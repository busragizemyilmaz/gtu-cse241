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194" autoAdjust="0"/>
  </p:normalViewPr>
  <p:slideViewPr>
    <p:cSldViewPr snapToGrid="0">
      <p:cViewPr varScale="1">
        <p:scale>
          <a:sx n="96" d="100"/>
          <a:sy n="96" d="100"/>
        </p:scale>
        <p:origin x="10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57F1-6E39-5558-04ED-48C2FDAD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076D5-611C-F097-DFF1-EED58A47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4D27-F131-4AEC-BD66-F095E533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91D5-8CC7-60F4-A925-953F4ACC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DB9-6FD9-B8AD-6F12-DB2B878A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AEC-61F0-AE80-EE84-5F774C82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F12-A7DB-24A6-AC8A-F580C0B23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A3A0-C38F-6096-2A19-AF98DF57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3A734-7C57-FFB2-3244-A6EB12F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93A0-AF7A-6E9B-224F-5B139023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DF31-8823-DCED-27DB-34019D70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7B61-40EB-2343-AF16-15ECDBB1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2BE-6BB4-6DEF-5191-9A09530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EED8-0CBF-6211-B5DB-D705B1A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AE30-19E3-0B32-6C4E-84643B8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3283-2BF9-B368-8F6E-F7E4184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11AD-591C-B5D8-32CD-0F8311F5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71AB8-889B-A0CF-D468-E47CF157C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4F57-3321-E4F6-B962-3E503C28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B78D-7295-957D-0A09-CFB3E17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BA6-1D21-1AFF-17E0-FB152E0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CA04-C786-F038-776E-A6E6BDB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CEB3-8EA6-0C5B-30DD-B6927168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3AF03-BAB2-8B6C-4E0D-217614AE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779B-0906-DCC1-0478-780F470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6A81-288D-837D-6DEC-B0EACD506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A7903-0A6D-7347-C9AA-3BED10D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A6F6-D203-B907-C956-57A5B4E7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966C8-54D3-2E2B-9CE6-054EE089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595B-77B0-BA30-4B4B-F8E90B1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2BB1F-9990-5368-662E-BE426387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22F03-16AB-0E6D-FB26-4B9FB94E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D932-8916-C824-D6A1-65D6423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61858-F700-C63E-46D7-0C465F7E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E7157-9A8D-A2EE-95C2-A65B59BE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85D7-03DE-A1DC-B965-A8F65A7D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3A3D-CFBB-F644-5397-F31190F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A710-A00B-DB71-B361-EC0D70151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10A8-BCEE-CBE3-1F18-D3C7DEF6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EA6F-3A6C-D19F-63EB-7E8F2F69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67186-1AD7-68EC-659E-CAE3744A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65A4-0A9A-865B-32C9-86527B9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3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C664-3CA0-E7FA-9006-AC53E6E5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3D6F-0ED9-F669-70B4-75A40CD8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8F17-EA93-0AD5-FD4C-B2369DF1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59C0-1455-7196-D678-02E9A5A4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A474-CB62-48A1-CF77-E35D894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D8E1-E50D-73E8-FF93-5EA56976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5AC4-53F6-2897-0852-03656AF9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AB6F-E95A-118E-28C8-2A96A511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8C39-5F3E-1705-871B-FF194D1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A283-CF15-90F2-6580-CFD86895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5116-E697-41A8-FC7B-75DECB5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4E61B-FD89-FB9D-DC30-063CF60C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8BD9-ACB0-7F02-E87A-9F8C1F9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A0B6-C1E0-DB9C-7206-725A9B81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14A5-9EE7-15A2-6F8A-0E4AF39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9AC4-9003-FE0F-0966-26888A5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0AD93-53ED-1F55-B504-8E2D3953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ABDA-14FB-EF0C-9E7A-19EC7F99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D458-6C2C-E3A3-C6BE-C806086D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10A2-3592-400F-A153-24A818005E1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2D9-269A-96D2-9704-E5F9A2BF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B0DC-31A1-17DA-CF86-7ED9E8950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5FB-561E-9D73-1C3A-1EF6AC2DA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241 OOP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D045C-061E-9E15-683A-AA17FD1AB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Quiz #1</a:t>
            </a:r>
          </a:p>
        </p:txBody>
      </p:sp>
    </p:spTree>
    <p:extLst>
      <p:ext uri="{BB962C8B-B14F-4D97-AF65-F5344CB8AC3E}">
        <p14:creationId xmlns:p14="http://schemas.microsoft.com/office/powerpoint/2010/main" val="18122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6205AC-C7F1-F914-2BA9-9FFF5C01B47F}"/>
              </a:ext>
            </a:extLst>
          </p:cNvPr>
          <p:cNvSpPr txBox="1"/>
          <p:nvPr/>
        </p:nvSpPr>
        <p:spPr>
          <a:xfrm>
            <a:off x="117987" y="223004"/>
            <a:ext cx="58616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b="1" kern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 1: </a:t>
            </a:r>
            <a:r>
              <a:rPr lang="en-US" sz="1800" kern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Convert the following C code into C++ code that uses </a:t>
            </a:r>
            <a:r>
              <a:rPr lang="en-US" b="1" kern="150" dirty="0">
                <a:latin typeface="Courier New" panose="02070309020205020404" pitchFamily="49" charset="0"/>
                <a:ea typeface="Times New Roman" panose="02020603050405020304" pitchFamily="18" charset="0"/>
              </a:rPr>
              <a:t>bool </a:t>
            </a:r>
            <a:r>
              <a:rPr lang="en-US" sz="1800" kern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instead of </a:t>
            </a:r>
            <a:r>
              <a:rPr lang="en-US" b="1" kern="150" dirty="0">
                <a:latin typeface="Courier New" panose="02070309020205020404" pitchFamily="49" charset="0"/>
              </a:rPr>
              <a:t>int</a:t>
            </a:r>
            <a:r>
              <a:rPr lang="en-US" sz="1800" kern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</a:t>
            </a:r>
            <a:r>
              <a:rPr lang="en-US" b="1" kern="150" dirty="0">
                <a:latin typeface="Courier New" panose="02070309020205020404" pitchFamily="49" charset="0"/>
              </a:rPr>
              <a:t>flag</a:t>
            </a:r>
            <a:r>
              <a:rPr lang="en-US" sz="1800" kern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1800" b="1" kern="15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&lt;&lt;</a:t>
            </a:r>
            <a:r>
              <a:rPr lang="en-US" sz="1800" kern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operator instead of </a:t>
            </a:r>
            <a:r>
              <a:rPr lang="en-US" sz="1800" b="1" kern="15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printf</a:t>
            </a:r>
            <a:r>
              <a:rPr lang="en-US" sz="1800" kern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Make sure that enough precision is provided in the output. </a:t>
            </a:r>
          </a:p>
          <a:p>
            <a:pPr marL="0" marR="0">
              <a:buNone/>
            </a:pPr>
            <a:endParaRPr lang="en-US" sz="1800" b="1" kern="150" dirty="0">
              <a:solidFill>
                <a:srgbClr val="00206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E19DF-C479-8A49-FF43-AFBD6B00BF5E}"/>
              </a:ext>
            </a:extLst>
          </p:cNvPr>
          <p:cNvSpPr txBox="1"/>
          <p:nvPr/>
        </p:nvSpPr>
        <p:spPr>
          <a:xfrm>
            <a:off x="6212365" y="223004"/>
            <a:ext cx="58993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Part 2: </a:t>
            </a:r>
            <a:r>
              <a:rPr lang="en-US" sz="1800" dirty="0">
                <a:effectLst/>
                <a:latin typeface="Liberation Serif"/>
                <a:ea typeface="DejaVu Sans"/>
                <a:cs typeface="DejaVu Sans"/>
              </a:rPr>
              <a:t>Write two C functions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DejaVu Sans"/>
              </a:rPr>
              <a:t>preIncInt</a:t>
            </a:r>
            <a:r>
              <a:rPr lang="en-US" sz="1800" dirty="0">
                <a:effectLst/>
                <a:latin typeface="Liberation Serif"/>
                <a:ea typeface="DejaVu Sans"/>
                <a:cs typeface="DejaVu Sans"/>
              </a:rPr>
              <a:t> and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DejaVu Sans"/>
              </a:rPr>
              <a:t>postIncInt</a:t>
            </a:r>
            <a:r>
              <a:rPr lang="en-US" sz="1800" dirty="0">
                <a:effectLst/>
                <a:latin typeface="Liberation Serif"/>
                <a:ea typeface="DejaVu Sans"/>
                <a:cs typeface="DejaVu Sans"/>
              </a:rPr>
              <a:t> that behave like pre and post increment </a:t>
            </a:r>
            <a:r>
              <a:rPr lang="en-US" sz="1800" b="1" dirty="0">
                <a:effectLst/>
                <a:latin typeface="Courier New" panose="02070309020205020404" pitchFamily="49" charset="0"/>
                <a:ea typeface="DejaVu Sans"/>
              </a:rPr>
              <a:t>++</a:t>
            </a:r>
            <a:r>
              <a:rPr lang="en-US" sz="1800" dirty="0">
                <a:effectLst/>
                <a:latin typeface="Liberation Serif"/>
                <a:ea typeface="DejaVu Sans"/>
                <a:cs typeface="DejaVu Sans"/>
              </a:rPr>
              <a:t> operators for </a:t>
            </a:r>
            <a:r>
              <a:rPr lang="en-US" sz="1800" b="1" dirty="0">
                <a:effectLst/>
                <a:latin typeface="Courier New" panose="02070309020205020404" pitchFamily="49" charset="0"/>
                <a:ea typeface="DejaVu Sans"/>
              </a:rPr>
              <a:t>int</a:t>
            </a:r>
            <a:r>
              <a:rPr lang="en-US" sz="1800" dirty="0">
                <a:effectLst/>
                <a:latin typeface="Liberation Serif"/>
                <a:ea typeface="DejaVu Sans"/>
                <a:cs typeface="DejaVu Sans"/>
              </a:rPr>
              <a:t> type without using these operators. In other words, the following codes 1 and 2 should produce exactly the same output. </a:t>
            </a:r>
            <a:r>
              <a:rPr lang="en-US" dirty="0">
                <a:latin typeface="Liberation Serif"/>
                <a:ea typeface="DejaVu Sans"/>
                <a:cs typeface="DejaVu Sans"/>
              </a:rPr>
              <a:t>Make sure to complete the … on the 2</a:t>
            </a:r>
            <a:r>
              <a:rPr lang="en-US" baseline="30000" dirty="0">
                <a:latin typeface="Liberation Serif"/>
                <a:ea typeface="DejaVu Sans"/>
                <a:cs typeface="DejaVu Sans"/>
              </a:rPr>
              <a:t>nd</a:t>
            </a:r>
            <a:r>
              <a:rPr lang="en-US" dirty="0">
                <a:latin typeface="Liberation Serif"/>
                <a:ea typeface="DejaVu Sans"/>
                <a:cs typeface="DejaVu Sans"/>
              </a:rPr>
              <a:t> code after you implement your functions.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1CBFDD-A1AD-4475-2D0B-2F2051A7ECAE}"/>
              </a:ext>
            </a:extLst>
          </p:cNvPr>
          <p:cNvCxnSpPr/>
          <p:nvPr/>
        </p:nvCxnSpPr>
        <p:spPr>
          <a:xfrm>
            <a:off x="6096000" y="61912"/>
            <a:ext cx="0" cy="6734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391EE7-3410-9C09-20E8-52CC6A458A3D}"/>
              </a:ext>
            </a:extLst>
          </p:cNvPr>
          <p:cNvSpPr txBox="1"/>
          <p:nvPr/>
        </p:nvSpPr>
        <p:spPr>
          <a:xfrm>
            <a:off x="192881" y="1548616"/>
            <a:ext cx="578675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b="1" kern="15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#include &lt;</a:t>
            </a:r>
            <a:r>
              <a:rPr lang="en-US" sz="1800" b="1" kern="15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stdio.h</a:t>
            </a:r>
            <a:r>
              <a:rPr lang="en-US" sz="1800" b="1" kern="15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</a:p>
          <a:p>
            <a:pPr marL="0" marR="0">
              <a:buNone/>
            </a:pPr>
            <a:endParaRPr lang="en-US" sz="1800" kern="150" dirty="0">
              <a:solidFill>
                <a:srgbClr val="0070C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b="1" kern="15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 main() {</a:t>
            </a:r>
            <a:endParaRPr lang="en-US" sz="1800" kern="150" dirty="0">
              <a:solidFill>
                <a:srgbClr val="0070C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b="1" kern="15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int flag;</a:t>
            </a:r>
            <a:endParaRPr lang="en-US" b="1" kern="150" dirty="0">
              <a:solidFill>
                <a:srgbClr val="0070C0"/>
              </a:solidFill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b="1" kern="15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flag = x == y;</a:t>
            </a:r>
          </a:p>
          <a:p>
            <a:pPr marL="0" marR="0">
              <a:buNone/>
            </a:pPr>
            <a:r>
              <a:rPr lang="en-US" b="1" kern="150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if (flag)</a:t>
            </a:r>
          </a:p>
          <a:p>
            <a:pPr marL="0" marR="0">
              <a:buNone/>
            </a:pPr>
            <a:r>
              <a:rPr lang="en-US" sz="1800" b="1" kern="15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  </a:t>
            </a:r>
            <a:r>
              <a:rPr lang="en-US" sz="1800" b="1" kern="15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printf</a:t>
            </a:r>
            <a:r>
              <a:rPr lang="en-US" sz="1800" b="1" kern="15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(“Comparison: true\n”);</a:t>
            </a:r>
          </a:p>
          <a:p>
            <a:pPr marL="0" marR="0">
              <a:buNone/>
            </a:pPr>
            <a:r>
              <a:rPr lang="en-US" sz="1800" b="1" kern="15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else</a:t>
            </a:r>
          </a:p>
          <a:p>
            <a:r>
              <a:rPr lang="en-US" b="1" kern="150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</a:t>
            </a:r>
            <a:r>
              <a:rPr lang="en-US" b="1" kern="150" dirty="0" err="1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printf</a:t>
            </a:r>
            <a:r>
              <a:rPr lang="en-US" b="1" kern="150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(“Comparison : false\n”);</a:t>
            </a:r>
          </a:p>
          <a:p>
            <a:r>
              <a:rPr lang="en-US" b="1" kern="150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</a:t>
            </a:r>
            <a:r>
              <a:rPr lang="en-US" b="1" kern="150" dirty="0" err="1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printf</a:t>
            </a:r>
            <a:r>
              <a:rPr lang="en-US" b="1" kern="150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(“   for %.6f and %.6f\n”, </a:t>
            </a:r>
            <a:r>
              <a:rPr lang="en-US" b="1" kern="150" dirty="0" err="1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x,y</a:t>
            </a:r>
            <a:r>
              <a:rPr lang="en-US" b="1" kern="150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</a:p>
          <a:p>
            <a:r>
              <a:rPr lang="en-US" sz="1800" b="1" kern="15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return 0;</a:t>
            </a:r>
            <a:endParaRPr lang="en-US" sz="1800" kern="150" dirty="0">
              <a:solidFill>
                <a:srgbClr val="0070C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b="1" kern="15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en-US" sz="1800" kern="150" dirty="0">
              <a:solidFill>
                <a:srgbClr val="0070C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A0EFFE-027E-E0B2-F97E-06B1FB665D30}"/>
              </a:ext>
            </a:extLst>
          </p:cNvPr>
          <p:cNvSpPr txBox="1"/>
          <p:nvPr/>
        </p:nvSpPr>
        <p:spPr>
          <a:xfrm>
            <a:off x="6212364" y="2518460"/>
            <a:ext cx="57867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pt-BR" b="1" kern="150" dirty="0">
                <a:solidFill>
                  <a:srgbClr val="C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		CODE 1:</a:t>
            </a:r>
          </a:p>
          <a:p>
            <a:pPr marL="0" marR="0">
              <a:buNone/>
            </a:pPr>
            <a:r>
              <a:rPr lang="pt-BR" b="1" kern="150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 n = 20; </a:t>
            </a:r>
          </a:p>
          <a:p>
            <a:pPr marL="0" marR="0">
              <a:buNone/>
            </a:pPr>
            <a:r>
              <a:rPr lang="pt-BR" b="1" kern="150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printf("%d\n",++n);                       printf("%d\n", n);</a:t>
            </a:r>
          </a:p>
          <a:p>
            <a:pPr marL="0" marR="0">
              <a:buNone/>
            </a:pPr>
            <a:r>
              <a:rPr lang="pt-BR" b="1" kern="150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printf("%d\n", n++); printf("%d\n", n);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09CFBE-2D14-262B-0CAE-0A1F42B628BE}"/>
              </a:ext>
            </a:extLst>
          </p:cNvPr>
          <p:cNvSpPr txBox="1"/>
          <p:nvPr/>
        </p:nvSpPr>
        <p:spPr>
          <a:xfrm>
            <a:off x="6212364" y="4477541"/>
            <a:ext cx="57867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kern="150" dirty="0">
                <a:solidFill>
                  <a:srgbClr val="C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//		CODE 2:</a:t>
            </a:r>
          </a:p>
          <a:p>
            <a:pPr marL="0" marR="0">
              <a:buNone/>
            </a:pPr>
            <a:r>
              <a:rPr lang="pt-BR" b="1" kern="150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 n = 20; </a:t>
            </a:r>
          </a:p>
          <a:p>
            <a:pPr marL="0" marR="0">
              <a:buNone/>
            </a:pPr>
            <a:r>
              <a:rPr lang="pt-BR" b="1" kern="150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printf("%d\n", preIncInt(...);                       printf("%d\n", n);</a:t>
            </a:r>
          </a:p>
          <a:p>
            <a:pPr marL="0" marR="0">
              <a:buNone/>
            </a:pPr>
            <a:r>
              <a:rPr lang="pt-BR" b="1" kern="150" dirty="0">
                <a:solidFill>
                  <a:srgbClr val="0070C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printf("%d\n", postIncInt(...); printf("%d\n", n); </a:t>
            </a:r>
          </a:p>
        </p:txBody>
      </p:sp>
    </p:spTree>
    <p:extLst>
      <p:ext uri="{BB962C8B-B14F-4D97-AF65-F5344CB8AC3E}">
        <p14:creationId xmlns:p14="http://schemas.microsoft.com/office/powerpoint/2010/main" val="370726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DA411F14FB3446BFBA932E3193AD5E" ma:contentTypeVersion="0" ma:contentTypeDescription="Yeni belge oluşturun." ma:contentTypeScope="" ma:versionID="f24eb5264a216acb6eaa23edf950d86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b3976cc54e553a713b593afa41ee61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53FE3F-33FA-4E53-8C0B-05E1E99B36FF}"/>
</file>

<file path=customXml/itemProps2.xml><?xml version="1.0" encoding="utf-8"?>
<ds:datastoreItem xmlns:ds="http://schemas.openxmlformats.org/officeDocument/2006/customXml" ds:itemID="{085ADCCB-A6FD-4A88-B8FD-0EBD8BF593AC}"/>
</file>

<file path=customXml/itemProps3.xml><?xml version="1.0" encoding="utf-8"?>
<ds:datastoreItem xmlns:ds="http://schemas.openxmlformats.org/officeDocument/2006/customXml" ds:itemID="{2953A952-70F1-4B3F-83A4-778CDBBFCD1E}"/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260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Courier New</vt:lpstr>
      <vt:lpstr>Liberation Serif</vt:lpstr>
      <vt:lpstr>Times New Roman</vt:lpstr>
      <vt:lpstr>Office Theme</vt:lpstr>
      <vt:lpstr>CSE 241 OOP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 Genc</dc:creator>
  <cp:lastModifiedBy>Yakup Genc</cp:lastModifiedBy>
  <cp:revision>10</cp:revision>
  <dcterms:created xsi:type="dcterms:W3CDTF">2025-10-01T11:57:46Z</dcterms:created>
  <dcterms:modified xsi:type="dcterms:W3CDTF">2025-10-01T12:23:50Z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0x01010098DA411F14FB3446BFBA932E3193AD5E</vt:lpwstr>
  </property>
</Properties>
</file>