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AB5796-C8EE-D0DC-48E5-4846EA6CDC12}" v="1" dt="2025-12-04T07:08:50.8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T YAKA" userId="S::m.yaka2023@gtu.edu.tr::258beb07-cb7b-46b5-b7d1-ced3a25a5f00" providerId="AD" clId="Web-{A3AB5796-C8EE-D0DC-48E5-4846EA6CDC12}"/>
    <pc:docChg chg="modSld">
      <pc:chgData name="MERT YAKA" userId="S::m.yaka2023@gtu.edu.tr::258beb07-cb7b-46b5-b7d1-ced3a25a5f00" providerId="AD" clId="Web-{A3AB5796-C8EE-D0DC-48E5-4846EA6CDC12}" dt="2025-12-04T07:08:50.869" v="0" actId="1076"/>
      <pc:docMkLst>
        <pc:docMk/>
      </pc:docMkLst>
      <pc:sldChg chg="modSp">
        <pc:chgData name="MERT YAKA" userId="S::m.yaka2023@gtu.edu.tr::258beb07-cb7b-46b5-b7d1-ced3a25a5f00" providerId="AD" clId="Web-{A3AB5796-C8EE-D0DC-48E5-4846EA6CDC12}" dt="2025-12-04T07:08:50.869" v="0" actId="1076"/>
        <pc:sldMkLst>
          <pc:docMk/>
          <pc:sldMk cId="3707264380" sldId="257"/>
        </pc:sldMkLst>
        <pc:picChg chg="mod">
          <ac:chgData name="MERT YAKA" userId="S::m.yaka2023@gtu.edu.tr::258beb07-cb7b-46b5-b7d1-ced3a25a5f00" providerId="AD" clId="Web-{A3AB5796-C8EE-D0DC-48E5-4846EA6CDC12}" dt="2025-12-04T07:08:50.869" v="0" actId="1076"/>
          <ac:picMkLst>
            <pc:docMk/>
            <pc:sldMk cId="3707264380" sldId="257"/>
            <ac:picMk id="7" creationId="{2C100C95-9C69-61C0-A8D3-C2074E2293E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057F1-6E39-5558-04ED-48C2FDAD7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076D5-611C-F097-DFF1-EED58A47A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14D27-F131-4AEC-BD66-F095E5331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291D5-8CC7-60F4-A925-953F4ACC1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18DB9-6FD9-B8AD-6F12-DB2B878A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9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51AEC-61F0-AE80-EE84-5F774C82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64F12-A7DB-24A6-AC8A-F580C0B23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EA3A0-C38F-6096-2A19-AF98DF57A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3A734-7C57-FFB2-3244-A6EB12FC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193A0-AF7A-6E9B-224F-5B139023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DF31-8823-DCED-27DB-34019D70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A7B61-40EB-2343-AF16-15ECDBB15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072BE-6BB4-6DEF-5191-9A09530B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2EED8-0CBF-6211-B5DB-D705B1A0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1AE30-19E3-0B32-6C4E-84643B81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1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3283-2BF9-B368-8F6E-F7E41845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F11AD-591C-B5D8-32CD-0F8311F5F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71AB8-889B-A0CF-D468-E47CF157C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64F57-3321-E4F6-B962-3E503C28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FB78D-7295-957D-0A09-CFB3E179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A4BA6-1D21-1AFF-17E0-FB152E0E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9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CA04-C786-F038-776E-A6E6BDBF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2CEB3-8EA6-0C5B-30DD-B69271689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3AF03-BAB2-8B6C-4E0D-217614AE6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9779B-0906-DCC1-0478-780F4704D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F6A81-288D-837D-6DEC-B0EACD506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A7903-0A6D-7347-C9AA-3BED10DD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EA6F6-D203-B907-C956-57A5B4E7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966C8-54D3-2E2B-9CE6-054EE089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595B-77B0-BA30-4B4B-F8E90B1B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D2BB1F-9990-5368-662E-BE426387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22F03-16AB-0E6D-FB26-4B9FB94E7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6D932-8916-C824-D6A1-65D6423D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3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61858-F700-C63E-46D7-0C465F7E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E7157-9A8D-A2EE-95C2-A65B59BE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685D7-03DE-A1DC-B965-A8F65A7D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1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3A3D-CFBB-F644-5397-F31190FD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9A710-A00B-DB71-B361-EC0D70151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A10A8-BCEE-CBE3-1F18-D3C7DEF62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5EA6F-3A6C-D19F-63EB-7E8F2F69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67186-1AD7-68EC-659E-CAE3744A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865A4-0A9A-865B-32C9-86527B95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36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C664-3CA0-E7FA-9006-AC53E6E5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C3D6F-0ED9-F669-70B4-75A40CD89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D8F17-EA93-0AD5-FD4C-B2369DF19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059C0-1455-7196-D678-02E9A5A4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5A474-CB62-48A1-CF77-E35D894D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FD8E1-E50D-73E8-FF93-5EA56976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0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5AC4-53F6-2897-0852-03656AF9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BAB6F-E95A-118E-28C8-2A96A5117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B8C39-5F3E-1705-871B-FF194D1CC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EA283-CF15-90F2-6580-CFD86895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E5116-E697-41A8-FC7B-75DECB58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8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14E61B-FD89-FB9D-DC30-063CF60CD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08BD9-ACB0-7F02-E87A-9F8C1F974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4A0B6-C1E0-DB9C-7206-725A9B81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214A5-9EE7-15A2-6F8A-0E4AF394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A9AC4-9003-FE0F-0966-26888A5F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5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C0AD93-53ED-1F55-B504-8E2D39530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EABDA-14FB-EF0C-9E7A-19EC7F995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DD458-6C2C-E3A3-C6BE-C806086D7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D72D9-269A-96D2-9704-E5F9A2BF3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6B0DC-31A1-17DA-CF86-7ED9E8950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8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65FB-561E-9D73-1C3A-1EF6AC2DA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CSE 241 OOP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D045C-061E-9E15-683A-AA17FD1AB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Fall 2025</a:t>
            </a:r>
          </a:p>
          <a:p>
            <a:r>
              <a:rPr lang="en-US"/>
              <a:t>Quiz #8</a:t>
            </a:r>
          </a:p>
        </p:txBody>
      </p:sp>
    </p:spTree>
    <p:extLst>
      <p:ext uri="{BB962C8B-B14F-4D97-AF65-F5344CB8AC3E}">
        <p14:creationId xmlns:p14="http://schemas.microsoft.com/office/powerpoint/2010/main" val="181220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29E19DF-C479-8A49-FF43-AFBD6B00BF5E}"/>
              </a:ext>
            </a:extLst>
          </p:cNvPr>
          <p:cNvSpPr txBox="1"/>
          <p:nvPr/>
        </p:nvSpPr>
        <p:spPr>
          <a:xfrm>
            <a:off x="6935003" y="543606"/>
            <a:ext cx="5078506" cy="5940088"/>
          </a:xfrm>
          <a:custGeom>
            <a:avLst/>
            <a:gdLst>
              <a:gd name="csX0" fmla="*/ 0 w 5078506"/>
              <a:gd name="csY0" fmla="*/ 0 h 5940088"/>
              <a:gd name="csX1" fmla="*/ 513493 w 5078506"/>
              <a:gd name="csY1" fmla="*/ 0 h 5940088"/>
              <a:gd name="csX2" fmla="*/ 925417 w 5078506"/>
              <a:gd name="csY2" fmla="*/ 0 h 5940088"/>
              <a:gd name="csX3" fmla="*/ 1591265 w 5078506"/>
              <a:gd name="csY3" fmla="*/ 0 h 5940088"/>
              <a:gd name="csX4" fmla="*/ 2104759 w 5078506"/>
              <a:gd name="csY4" fmla="*/ 0 h 5940088"/>
              <a:gd name="csX5" fmla="*/ 2618252 w 5078506"/>
              <a:gd name="csY5" fmla="*/ 0 h 5940088"/>
              <a:gd name="csX6" fmla="*/ 3284101 w 5078506"/>
              <a:gd name="csY6" fmla="*/ 0 h 5940088"/>
              <a:gd name="csX7" fmla="*/ 3746809 w 5078506"/>
              <a:gd name="csY7" fmla="*/ 0 h 5940088"/>
              <a:gd name="csX8" fmla="*/ 4412657 w 5078506"/>
              <a:gd name="csY8" fmla="*/ 0 h 5940088"/>
              <a:gd name="csX9" fmla="*/ 5078506 w 5078506"/>
              <a:gd name="csY9" fmla="*/ 0 h 5940088"/>
              <a:gd name="csX10" fmla="*/ 5078506 w 5078506"/>
              <a:gd name="csY10" fmla="*/ 594009 h 5940088"/>
              <a:gd name="csX11" fmla="*/ 5078506 w 5078506"/>
              <a:gd name="csY11" fmla="*/ 1188018 h 5940088"/>
              <a:gd name="csX12" fmla="*/ 5078506 w 5078506"/>
              <a:gd name="csY12" fmla="*/ 1841427 h 5940088"/>
              <a:gd name="csX13" fmla="*/ 5078506 w 5078506"/>
              <a:gd name="csY13" fmla="*/ 2257233 h 5940088"/>
              <a:gd name="csX14" fmla="*/ 5078506 w 5078506"/>
              <a:gd name="csY14" fmla="*/ 2851242 h 5940088"/>
              <a:gd name="csX15" fmla="*/ 5078506 w 5078506"/>
              <a:gd name="csY15" fmla="*/ 3445251 h 5940088"/>
              <a:gd name="csX16" fmla="*/ 5078506 w 5078506"/>
              <a:gd name="csY16" fmla="*/ 4039260 h 5940088"/>
              <a:gd name="csX17" fmla="*/ 5078506 w 5078506"/>
              <a:gd name="csY17" fmla="*/ 4692670 h 5940088"/>
              <a:gd name="csX18" fmla="*/ 5078506 w 5078506"/>
              <a:gd name="csY18" fmla="*/ 5346079 h 5940088"/>
              <a:gd name="csX19" fmla="*/ 5078506 w 5078506"/>
              <a:gd name="csY19" fmla="*/ 5940088 h 5940088"/>
              <a:gd name="csX20" fmla="*/ 4666583 w 5078506"/>
              <a:gd name="csY20" fmla="*/ 5940088 h 5940088"/>
              <a:gd name="csX21" fmla="*/ 4000734 w 5078506"/>
              <a:gd name="csY21" fmla="*/ 5940088 h 5940088"/>
              <a:gd name="csX22" fmla="*/ 3436456 w 5078506"/>
              <a:gd name="csY22" fmla="*/ 5940088 h 5940088"/>
              <a:gd name="csX23" fmla="*/ 2973747 w 5078506"/>
              <a:gd name="csY23" fmla="*/ 5940088 h 5940088"/>
              <a:gd name="csX24" fmla="*/ 2409469 w 5078506"/>
              <a:gd name="csY24" fmla="*/ 5940088 h 5940088"/>
              <a:gd name="csX25" fmla="*/ 1997546 w 5078506"/>
              <a:gd name="csY25" fmla="*/ 5940088 h 5940088"/>
              <a:gd name="csX26" fmla="*/ 1585622 w 5078506"/>
              <a:gd name="csY26" fmla="*/ 5940088 h 5940088"/>
              <a:gd name="csX27" fmla="*/ 1021344 w 5078506"/>
              <a:gd name="csY27" fmla="*/ 5940088 h 5940088"/>
              <a:gd name="csX28" fmla="*/ 558636 w 5078506"/>
              <a:gd name="csY28" fmla="*/ 5940088 h 5940088"/>
              <a:gd name="csX29" fmla="*/ 0 w 5078506"/>
              <a:gd name="csY29" fmla="*/ 5940088 h 5940088"/>
              <a:gd name="csX30" fmla="*/ 0 w 5078506"/>
              <a:gd name="csY30" fmla="*/ 5464881 h 5940088"/>
              <a:gd name="csX31" fmla="*/ 0 w 5078506"/>
              <a:gd name="csY31" fmla="*/ 5049075 h 5940088"/>
              <a:gd name="csX32" fmla="*/ 0 w 5078506"/>
              <a:gd name="csY32" fmla="*/ 4395665 h 5940088"/>
              <a:gd name="csX33" fmla="*/ 0 w 5078506"/>
              <a:gd name="csY33" fmla="*/ 3920458 h 5940088"/>
              <a:gd name="csX34" fmla="*/ 0 w 5078506"/>
              <a:gd name="csY34" fmla="*/ 3267048 h 5940088"/>
              <a:gd name="csX35" fmla="*/ 0 w 5078506"/>
              <a:gd name="csY35" fmla="*/ 2554238 h 5940088"/>
              <a:gd name="csX36" fmla="*/ 0 w 5078506"/>
              <a:gd name="csY36" fmla="*/ 2019630 h 5940088"/>
              <a:gd name="csX37" fmla="*/ 0 w 5078506"/>
              <a:gd name="csY37" fmla="*/ 1306819 h 5940088"/>
              <a:gd name="csX38" fmla="*/ 0 w 5078506"/>
              <a:gd name="csY38" fmla="*/ 831612 h 5940088"/>
              <a:gd name="csX39" fmla="*/ 0 w 5078506"/>
              <a:gd name="csY39" fmla="*/ 0 h 5940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5078506" h="5940088" extrusionOk="0">
                <a:moveTo>
                  <a:pt x="0" y="0"/>
                </a:moveTo>
                <a:cubicBezTo>
                  <a:pt x="209303" y="-52272"/>
                  <a:pt x="319064" y="57881"/>
                  <a:pt x="513493" y="0"/>
                </a:cubicBezTo>
                <a:cubicBezTo>
                  <a:pt x="707922" y="-57881"/>
                  <a:pt x="784040" y="23614"/>
                  <a:pt x="925417" y="0"/>
                </a:cubicBezTo>
                <a:cubicBezTo>
                  <a:pt x="1066794" y="-23614"/>
                  <a:pt x="1447866" y="14540"/>
                  <a:pt x="1591265" y="0"/>
                </a:cubicBezTo>
                <a:cubicBezTo>
                  <a:pt x="1734664" y="-14540"/>
                  <a:pt x="1946518" y="29678"/>
                  <a:pt x="2104759" y="0"/>
                </a:cubicBezTo>
                <a:cubicBezTo>
                  <a:pt x="2263000" y="-29678"/>
                  <a:pt x="2394819" y="38541"/>
                  <a:pt x="2618252" y="0"/>
                </a:cubicBezTo>
                <a:cubicBezTo>
                  <a:pt x="2841685" y="-38541"/>
                  <a:pt x="3040293" y="30210"/>
                  <a:pt x="3284101" y="0"/>
                </a:cubicBezTo>
                <a:cubicBezTo>
                  <a:pt x="3527909" y="-30210"/>
                  <a:pt x="3622013" y="11609"/>
                  <a:pt x="3746809" y="0"/>
                </a:cubicBezTo>
                <a:cubicBezTo>
                  <a:pt x="3871605" y="-11609"/>
                  <a:pt x="4125931" y="44011"/>
                  <a:pt x="4412657" y="0"/>
                </a:cubicBezTo>
                <a:cubicBezTo>
                  <a:pt x="4699383" y="-44011"/>
                  <a:pt x="4899842" y="9241"/>
                  <a:pt x="5078506" y="0"/>
                </a:cubicBezTo>
                <a:cubicBezTo>
                  <a:pt x="5095816" y="173858"/>
                  <a:pt x="5039296" y="338528"/>
                  <a:pt x="5078506" y="594009"/>
                </a:cubicBezTo>
                <a:cubicBezTo>
                  <a:pt x="5117716" y="849490"/>
                  <a:pt x="5016215" y="936413"/>
                  <a:pt x="5078506" y="1188018"/>
                </a:cubicBezTo>
                <a:cubicBezTo>
                  <a:pt x="5140797" y="1439623"/>
                  <a:pt x="5041985" y="1622808"/>
                  <a:pt x="5078506" y="1841427"/>
                </a:cubicBezTo>
                <a:cubicBezTo>
                  <a:pt x="5115027" y="2060046"/>
                  <a:pt x="5053338" y="2151254"/>
                  <a:pt x="5078506" y="2257233"/>
                </a:cubicBezTo>
                <a:cubicBezTo>
                  <a:pt x="5103674" y="2363212"/>
                  <a:pt x="5066802" y="2623305"/>
                  <a:pt x="5078506" y="2851242"/>
                </a:cubicBezTo>
                <a:cubicBezTo>
                  <a:pt x="5090210" y="3079179"/>
                  <a:pt x="5022826" y="3235731"/>
                  <a:pt x="5078506" y="3445251"/>
                </a:cubicBezTo>
                <a:cubicBezTo>
                  <a:pt x="5134186" y="3654771"/>
                  <a:pt x="5062440" y="3854927"/>
                  <a:pt x="5078506" y="4039260"/>
                </a:cubicBezTo>
                <a:cubicBezTo>
                  <a:pt x="5094572" y="4223593"/>
                  <a:pt x="5065384" y="4423888"/>
                  <a:pt x="5078506" y="4692670"/>
                </a:cubicBezTo>
                <a:cubicBezTo>
                  <a:pt x="5091628" y="4961452"/>
                  <a:pt x="5006554" y="5170414"/>
                  <a:pt x="5078506" y="5346079"/>
                </a:cubicBezTo>
                <a:cubicBezTo>
                  <a:pt x="5150458" y="5521744"/>
                  <a:pt x="5067181" y="5682787"/>
                  <a:pt x="5078506" y="5940088"/>
                </a:cubicBezTo>
                <a:cubicBezTo>
                  <a:pt x="4903590" y="5959418"/>
                  <a:pt x="4828943" y="5913335"/>
                  <a:pt x="4666583" y="5940088"/>
                </a:cubicBezTo>
                <a:cubicBezTo>
                  <a:pt x="4504223" y="5966841"/>
                  <a:pt x="4288444" y="5872484"/>
                  <a:pt x="4000734" y="5940088"/>
                </a:cubicBezTo>
                <a:cubicBezTo>
                  <a:pt x="3713024" y="6007692"/>
                  <a:pt x="3614323" y="5903011"/>
                  <a:pt x="3436456" y="5940088"/>
                </a:cubicBezTo>
                <a:cubicBezTo>
                  <a:pt x="3258589" y="5977165"/>
                  <a:pt x="3100028" y="5927660"/>
                  <a:pt x="2973747" y="5940088"/>
                </a:cubicBezTo>
                <a:cubicBezTo>
                  <a:pt x="2847466" y="5952516"/>
                  <a:pt x="2659936" y="5927427"/>
                  <a:pt x="2409469" y="5940088"/>
                </a:cubicBezTo>
                <a:cubicBezTo>
                  <a:pt x="2159002" y="5952749"/>
                  <a:pt x="2193468" y="5908726"/>
                  <a:pt x="1997546" y="5940088"/>
                </a:cubicBezTo>
                <a:cubicBezTo>
                  <a:pt x="1801624" y="5971450"/>
                  <a:pt x="1714948" y="5933598"/>
                  <a:pt x="1585622" y="5940088"/>
                </a:cubicBezTo>
                <a:cubicBezTo>
                  <a:pt x="1456296" y="5946578"/>
                  <a:pt x="1209601" y="5917974"/>
                  <a:pt x="1021344" y="5940088"/>
                </a:cubicBezTo>
                <a:cubicBezTo>
                  <a:pt x="833087" y="5962202"/>
                  <a:pt x="740647" y="5916480"/>
                  <a:pt x="558636" y="5940088"/>
                </a:cubicBezTo>
                <a:cubicBezTo>
                  <a:pt x="376625" y="5963696"/>
                  <a:pt x="226542" y="5885016"/>
                  <a:pt x="0" y="5940088"/>
                </a:cubicBezTo>
                <a:cubicBezTo>
                  <a:pt x="-31258" y="5805685"/>
                  <a:pt x="47570" y="5595746"/>
                  <a:pt x="0" y="5464881"/>
                </a:cubicBezTo>
                <a:cubicBezTo>
                  <a:pt x="-47570" y="5334016"/>
                  <a:pt x="38493" y="5220822"/>
                  <a:pt x="0" y="5049075"/>
                </a:cubicBezTo>
                <a:cubicBezTo>
                  <a:pt x="-38493" y="4877328"/>
                  <a:pt x="65142" y="4553862"/>
                  <a:pt x="0" y="4395665"/>
                </a:cubicBezTo>
                <a:cubicBezTo>
                  <a:pt x="-65142" y="4237468"/>
                  <a:pt x="38858" y="4034224"/>
                  <a:pt x="0" y="3920458"/>
                </a:cubicBezTo>
                <a:cubicBezTo>
                  <a:pt x="-38858" y="3806692"/>
                  <a:pt x="61475" y="3567017"/>
                  <a:pt x="0" y="3267048"/>
                </a:cubicBezTo>
                <a:cubicBezTo>
                  <a:pt x="-61475" y="2967079"/>
                  <a:pt x="34384" y="2815624"/>
                  <a:pt x="0" y="2554238"/>
                </a:cubicBezTo>
                <a:cubicBezTo>
                  <a:pt x="-34384" y="2292852"/>
                  <a:pt x="24242" y="2151367"/>
                  <a:pt x="0" y="2019630"/>
                </a:cubicBezTo>
                <a:cubicBezTo>
                  <a:pt x="-24242" y="1887893"/>
                  <a:pt x="29428" y="1496215"/>
                  <a:pt x="0" y="1306819"/>
                </a:cubicBezTo>
                <a:cubicBezTo>
                  <a:pt x="-29428" y="1117423"/>
                  <a:pt x="18181" y="931550"/>
                  <a:pt x="0" y="831612"/>
                </a:cubicBezTo>
                <a:cubicBezTo>
                  <a:pt x="-18181" y="731674"/>
                  <a:pt x="69289" y="176431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2000" kern="150" err="1">
                <a:latin typeface="Times New Roman" panose="02020603050405020304" pitchFamily="18" charset="0"/>
                <a:ea typeface="Times New Roman" panose="02020603050405020304" pitchFamily="18" charset="0"/>
              </a:rPr>
              <a:t>Study</a:t>
            </a:r>
            <a:r>
              <a:rPr lang="tr-TR" sz="2000" kern="15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kern="150">
                <a:latin typeface="Times New Roman" panose="02020603050405020304" pitchFamily="18" charset="0"/>
                <a:ea typeface="Times New Roman" panose="02020603050405020304" pitchFamily="18" charset="0"/>
              </a:rPr>
              <a:t>the class hierarchy on the left. </a:t>
            </a:r>
            <a:r>
              <a:rPr lang="en-US" kern="150">
                <a:solidFill>
                  <a:srgbClr val="007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area</a:t>
            </a:r>
            <a:r>
              <a:rPr lang="en-US" sz="2000" kern="150">
                <a:latin typeface="Times New Roman" panose="02020603050405020304" pitchFamily="18" charset="0"/>
                <a:ea typeface="Times New Roman" panose="02020603050405020304" pitchFamily="18" charset="0"/>
              </a:rPr>
              <a:t> is a pure virtual and </a:t>
            </a:r>
            <a:r>
              <a:rPr lang="en-US" kern="150" err="1">
                <a:solidFill>
                  <a:srgbClr val="0070C0"/>
                </a:solidFill>
                <a:latin typeface="Consolas" panose="020B0609020204030204" pitchFamily="49" charset="0"/>
              </a:rPr>
              <a:t>printInfo</a:t>
            </a:r>
            <a:r>
              <a:rPr lang="en-US" sz="2000" kern="150">
                <a:latin typeface="Times New Roman" panose="02020603050405020304" pitchFamily="18" charset="0"/>
                <a:ea typeface="Times New Roman" panose="02020603050405020304" pitchFamily="18" charset="0"/>
              </a:rPr>
              <a:t> is a virtual function. Do not implement these classes, assume they are already implemented.</a:t>
            </a:r>
            <a:endParaRPr lang="tr-TR" sz="2000" kern="15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kern="150">
                <a:latin typeface="Times New Roman" panose="02020603050405020304" pitchFamily="18" charset="0"/>
                <a:ea typeface="Times New Roman" panose="02020603050405020304" pitchFamily="18" charset="0"/>
              </a:rPr>
              <a:t>Part 1:</a:t>
            </a:r>
            <a:r>
              <a:rPr lang="en-US" sz="1400" b="1" kern="150">
                <a:latin typeface="Liberation Serif"/>
                <a:ea typeface="Times New Roman" panose="02020603050405020304" pitchFamily="18" charset="0"/>
              </a:rPr>
              <a:t> </a:t>
            </a:r>
            <a:r>
              <a:rPr lang="en-US" sz="2000">
                <a:latin typeface="Liberation Serif"/>
                <a:ea typeface="DejaVu Sans"/>
                <a:cs typeface="DejaVu Sans"/>
              </a:rPr>
              <a:t>Design and implement a class template </a:t>
            </a:r>
            <a:r>
              <a:rPr lang="en-US" kern="150" err="1">
                <a:solidFill>
                  <a:srgbClr val="0070C0"/>
                </a:solidFill>
                <a:latin typeface="Consolas" panose="020B0609020204030204" pitchFamily="49" charset="0"/>
              </a:rPr>
              <a:t>ShapeContainer</a:t>
            </a:r>
            <a:r>
              <a:rPr lang="en-US" kern="150">
                <a:solidFill>
                  <a:srgbClr val="0070C0"/>
                </a:solidFill>
                <a:latin typeface="Consolas" panose="020B0609020204030204" pitchFamily="49" charset="0"/>
              </a:rPr>
              <a:t>&lt;T&gt;</a:t>
            </a:r>
            <a:r>
              <a:rPr lang="en-US">
                <a:latin typeface="Liberation Serif"/>
                <a:ea typeface="DejaVu Sans"/>
                <a:cs typeface="DejaVu Sans"/>
              </a:rPr>
              <a:t> </a:t>
            </a:r>
            <a:r>
              <a:rPr lang="en-US" sz="2000">
                <a:latin typeface="Liberation Serif"/>
                <a:ea typeface="DejaVu Sans"/>
                <a:cs typeface="DejaVu Sans"/>
              </a:rPr>
              <a:t>where T is expected to be a type derived from </a:t>
            </a:r>
            <a:r>
              <a:rPr lang="en-US" kern="150">
                <a:solidFill>
                  <a:srgbClr val="0070C0"/>
                </a:solidFill>
                <a:latin typeface="Consolas" panose="020B0609020204030204" pitchFamily="49" charset="0"/>
              </a:rPr>
              <a:t>Shape</a:t>
            </a:r>
            <a:r>
              <a:rPr lang="en-US" sz="2000">
                <a:latin typeface="Liberation Serif"/>
                <a:ea typeface="DejaVu Sans"/>
                <a:cs typeface="DejaVu Sans"/>
              </a:rPr>
              <a:t>. </a:t>
            </a:r>
            <a:r>
              <a:rPr lang="en-US" kern="150" err="1">
                <a:solidFill>
                  <a:srgbClr val="0070C0"/>
                </a:solidFill>
                <a:latin typeface="Consolas" panose="020B0609020204030204" pitchFamily="49" charset="0"/>
              </a:rPr>
              <a:t>ShapeContainer</a:t>
            </a:r>
            <a:r>
              <a:rPr lang="en-US" sz="2000">
                <a:latin typeface="Liberation Serif"/>
                <a:ea typeface="DejaVu Sans"/>
                <a:cs typeface="DejaVu Sans"/>
              </a:rPr>
              <a:t> should store a collection of pointers to objects of type T in a </a:t>
            </a:r>
            <a:r>
              <a:rPr lang="en-US" kern="150">
                <a:solidFill>
                  <a:srgbClr val="0070C0"/>
                </a:solidFill>
                <a:latin typeface="Consolas" panose="020B0609020204030204" pitchFamily="49" charset="0"/>
              </a:rPr>
              <a:t>std::vector </a:t>
            </a:r>
            <a:r>
              <a:rPr lang="en-US" sz="2000">
                <a:latin typeface="Liberation Serif"/>
                <a:ea typeface="DejaVu Sans"/>
                <a:cs typeface="DejaVu Sans"/>
              </a:rPr>
              <a:t>and provide methods to (1) add a shape, (2) return the total area of all stored shapes and (3) return the number of stored </a:t>
            </a:r>
            <a:r>
              <a:rPr lang="en-US" kern="150">
                <a:solidFill>
                  <a:srgbClr val="0070C0"/>
                </a:solidFill>
                <a:latin typeface="Consolas" panose="020B0609020204030204" pitchFamily="49" charset="0"/>
              </a:rPr>
              <a:t>Circle</a:t>
            </a:r>
            <a:r>
              <a:rPr lang="en-US">
                <a:latin typeface="Liberation Serif"/>
                <a:ea typeface="DejaVu Sans"/>
                <a:cs typeface="DejaVu Sans"/>
              </a:rPr>
              <a:t> .</a:t>
            </a:r>
            <a:endParaRPr lang="en-US" kern="15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kern="150">
                <a:latin typeface="Times New Roman" panose="02020603050405020304" pitchFamily="18" charset="0"/>
                <a:ea typeface="Times New Roman" panose="02020603050405020304" pitchFamily="18" charset="0"/>
              </a:rPr>
              <a:t>Part 2:</a:t>
            </a:r>
            <a:r>
              <a:rPr lang="en-US" sz="2000" b="1" kern="150">
                <a:latin typeface="Liberation Serif"/>
                <a:ea typeface="Times New Roman" panose="02020603050405020304" pitchFamily="18" charset="0"/>
              </a:rPr>
              <a:t> </a:t>
            </a:r>
            <a:r>
              <a:rPr lang="tr-TR" sz="2000">
                <a:latin typeface="Liberation Serif"/>
                <a:ea typeface="DejaVu Sans"/>
                <a:cs typeface="DejaVu Sans"/>
              </a:rPr>
              <a:t>Implement</a:t>
            </a:r>
            <a:r>
              <a:rPr lang="en-US" sz="2000">
                <a:latin typeface="Liberation Serif"/>
                <a:ea typeface="DejaVu Sans"/>
                <a:cs typeface="DejaVu Sans"/>
              </a:rPr>
              <a:t> </a:t>
            </a:r>
            <a:r>
              <a:rPr lang="en-US" kern="150">
                <a:solidFill>
                  <a:srgbClr val="0070C0"/>
                </a:solidFill>
                <a:latin typeface="Consolas" panose="020B0609020204030204" pitchFamily="49" charset="0"/>
              </a:rPr>
              <a:t>main()</a:t>
            </a:r>
            <a:r>
              <a:rPr lang="tr-TR" kern="15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latin typeface="Liberation Serif"/>
                <a:ea typeface="DejaVu Sans"/>
                <a:cs typeface="DejaVu Sans"/>
              </a:rPr>
              <a:t>that (1) creates a </a:t>
            </a:r>
            <a:r>
              <a:rPr lang="en-US" kern="150" err="1">
                <a:solidFill>
                  <a:srgbClr val="0070C0"/>
                </a:solidFill>
                <a:latin typeface="Consolas" panose="020B0609020204030204" pitchFamily="49" charset="0"/>
              </a:rPr>
              <a:t>ShapeContainer</a:t>
            </a:r>
            <a:r>
              <a:rPr lang="en-US">
                <a:solidFill>
                  <a:srgbClr val="0070C0"/>
                </a:solidFill>
                <a:latin typeface="Consolas" panose="020B0609020204030204" pitchFamily="49" charset="0"/>
                <a:ea typeface="DejaVu Sans"/>
                <a:cs typeface="DejaVu Sans"/>
              </a:rPr>
              <a:t>&lt;Shape&gt; </a:t>
            </a:r>
            <a:r>
              <a:rPr lang="en-US" sz="2000">
                <a:latin typeface="Liberation Serif"/>
                <a:ea typeface="DejaVu Sans"/>
                <a:cs typeface="DejaVu Sans"/>
              </a:rPr>
              <a:t>object (2) adds </a:t>
            </a:r>
            <a:r>
              <a:rPr lang="en-US" kern="150">
                <a:solidFill>
                  <a:srgbClr val="0070C0"/>
                </a:solidFill>
                <a:latin typeface="Consolas" panose="020B0609020204030204" pitchFamily="49" charset="0"/>
              </a:rPr>
              <a:t>Circle</a:t>
            </a:r>
            <a:r>
              <a:rPr lang="en-US" sz="2000">
                <a:latin typeface="Liberation Serif"/>
                <a:ea typeface="DejaVu Sans"/>
                <a:cs typeface="DejaVu Sans"/>
              </a:rPr>
              <a:t> and </a:t>
            </a:r>
            <a:r>
              <a:rPr lang="en-US" kern="150">
                <a:solidFill>
                  <a:srgbClr val="0070C0"/>
                </a:solidFill>
                <a:latin typeface="Consolas" panose="020B0609020204030204" pitchFamily="49" charset="0"/>
              </a:rPr>
              <a:t>Rectangle</a:t>
            </a:r>
            <a:r>
              <a:rPr lang="en-US" sz="2000">
                <a:latin typeface="Liberation Serif"/>
                <a:ea typeface="DejaVu Sans"/>
                <a:cs typeface="DejaVu Sans"/>
              </a:rPr>
              <a:t> objects to the container (3) calls the method to print the areas of all stored shapes</a:t>
            </a:r>
            <a:r>
              <a:rPr lang="tr-TR" sz="2000">
                <a:latin typeface="Liberation Serif"/>
                <a:ea typeface="DejaVu Sans"/>
                <a:cs typeface="DejaVu Sans"/>
              </a:rPr>
              <a:t>,</a:t>
            </a:r>
            <a:r>
              <a:rPr lang="en-US" sz="2000">
                <a:latin typeface="Liberation Serif"/>
                <a:ea typeface="DejaVu Sans"/>
                <a:cs typeface="DejaVu Sans"/>
              </a:rPr>
              <a:t> (4) calls the method to print the number of all circles.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1EC95D-E42B-D185-7760-2D1A00486D5D}"/>
              </a:ext>
            </a:extLst>
          </p:cNvPr>
          <p:cNvSpPr txBox="1"/>
          <p:nvPr/>
        </p:nvSpPr>
        <p:spPr>
          <a:xfrm>
            <a:off x="266700" y="93899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150">
                <a:latin typeface="Times New Roman" panose="02020603050405020304" pitchFamily="18" charset="0"/>
                <a:ea typeface="Times New Roman" panose="02020603050405020304" pitchFamily="18" charset="0"/>
              </a:rPr>
              <a:t>35 minutes…</a:t>
            </a:r>
            <a:endParaRPr lang="en-US"/>
          </a:p>
        </p:txBody>
      </p:sp>
      <p:pic>
        <p:nvPicPr>
          <p:cNvPr id="7" name="Picture 6" descr="PlantUML diagram">
            <a:extLst>
              <a:ext uri="{FF2B5EF4-FFF2-40B4-BE49-F238E27FC236}">
                <a16:creationId xmlns:a16="http://schemas.microsoft.com/office/drawing/2014/main" id="{2C100C95-9C69-61C0-A8D3-C2074E229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52" y="919252"/>
            <a:ext cx="6865844" cy="355933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992CF2-EB05-18A6-9B97-D8CC2F556276}"/>
              </a:ext>
            </a:extLst>
          </p:cNvPr>
          <p:cNvSpPr txBox="1"/>
          <p:nvPr/>
        </p:nvSpPr>
        <p:spPr>
          <a:xfrm>
            <a:off x="809625" y="4905853"/>
            <a:ext cx="3914775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>
                <a:latin typeface="Liberation Serif"/>
                <a:ea typeface="DejaVu Sans"/>
                <a:cs typeface="DejaVu Sans"/>
              </a:rPr>
              <a:t>Notation: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rgbClr val="C00000"/>
                </a:solidFill>
                <a:latin typeface="Liberation Serif"/>
              </a:rPr>
              <a:t>Red squares</a:t>
            </a:r>
            <a:r>
              <a:rPr lang="en-US">
                <a:latin typeface="Liberation Serif"/>
              </a:rPr>
              <a:t>: private members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latin typeface="Liberation Serif"/>
              </a:rPr>
              <a:t>Green circles</a:t>
            </a:r>
            <a:r>
              <a:rPr lang="en-US">
                <a:latin typeface="Liberation Serif"/>
              </a:rPr>
              <a:t>: public members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26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98DA411F14FB3446BFBA932E3193AD5E" ma:contentTypeVersion="7" ma:contentTypeDescription="Yeni belge oluşturun." ma:contentTypeScope="" ma:versionID="467dee040249efe7af0f2735273a16cf">
  <xsd:schema xmlns:xsd="http://www.w3.org/2001/XMLSchema" xmlns:xs="http://www.w3.org/2001/XMLSchema" xmlns:p="http://schemas.microsoft.com/office/2006/metadata/properties" xmlns:ns2="8e2b7dea-49f8-4593-82c4-e63f6b2d9815" targetNamespace="http://schemas.microsoft.com/office/2006/metadata/properties" ma:root="true" ma:fieldsID="39e7aded8f025ea46db85e2afd4cb3aa" ns2:_="">
    <xsd:import namespace="8e2b7dea-49f8-4593-82c4-e63f6b2d98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b7dea-49f8-4593-82c4-e63f6b2d98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0390A79-C055-4E29-8BA6-2329B3E0A4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CBEA06E-7FB6-4511-85A4-8F7D1B5C7C48}">
  <ds:schemaRefs>
    <ds:schemaRef ds:uri="8e2b7dea-49f8-4593-82c4-e63f6b2d981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959B46E-B448-440E-BBE9-DFAD8DDE805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CSE 241 OOP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Yakup Genc</dc:creator>
  <cp:revision>1</cp:revision>
  <dcterms:created xsi:type="dcterms:W3CDTF">2025-10-01T11:57:46Z</dcterms:created>
  <dcterms:modified xsi:type="dcterms:W3CDTF">2025-12-04T07:08:51Z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0x01010098DA411F14FB3446BFBA932E3193AD5E</vt:lpwstr>
  </property>
</Properties>
</file>