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3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0194" autoAdjust="0"/>
  </p:normalViewPr>
  <p:slideViewPr>
    <p:cSldViewPr snapToGrid="0">
      <p:cViewPr varScale="1">
        <p:scale>
          <a:sx n="96" d="100"/>
          <a:sy n="96" d="100"/>
        </p:scale>
        <p:origin x="1068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customXml" Target="../customXml/item1.xml"/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10" Type="http://schemas.openxmlformats.org/officeDocument/2006/relationships/customXml" Target="../customXml/item3.xml"/><Relationship Id="rId4" Type="http://schemas.openxmlformats.org/officeDocument/2006/relationships/presProps" Target="presProps.xml"/><Relationship Id="rId9" Type="http://schemas.openxmlformats.org/officeDocument/2006/relationships/customXml" Target="../customXml/item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3057F1-6E39-5558-04ED-48C2FDAD7F6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1D076D5-611C-F097-DFF1-EED58A47A8E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114D27-F131-4AEC-BD66-F095E53311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EB10A2-3592-400F-A153-24A818005E13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5291D5-8CC7-60F4-A925-953F4ACC17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118DB9-6FD9-B8AD-6F12-DB2B878ABB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6216C2-B4F9-493C-82EA-263E90D052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47938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A51AEC-61F0-AE80-EE84-5F774C820C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964F12-A7DB-24A6-AC8A-F580C0B232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1EA3A0-C38F-6096-2A19-AF98DF57A6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EB10A2-3592-400F-A153-24A818005E13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93A734-7C57-FFB2-3244-A6EB12FC69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A193A0-AF7A-6E9B-224F-5B13902331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6216C2-B4F9-493C-82EA-263E90D052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62026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BCDF31-8823-DCED-27DB-34019D706C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FA7B61-40EB-2343-AF16-15ECDBB151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F072BE-6BB4-6DEF-5191-9A09530BB3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EB10A2-3592-400F-A153-24A818005E13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E2EED8-0CBF-6211-B5DB-D705B1A076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11AE30-19E3-0B32-6C4E-84643B8132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6216C2-B4F9-493C-82EA-263E90D052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56149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373283-2BF9-B368-8F6E-F7E418455C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EF11AD-591C-B5D8-32CD-0F8311F5F71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8471AB8-889B-A0CF-D468-E47CF157CD1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0364F57-3321-E4F6-B962-3E503C28AE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EB10A2-3592-400F-A153-24A818005E13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12FB78D-7295-957D-0A09-CFB3E17955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FFA4BA6-1D21-1AFF-17E0-FB152E0E77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6216C2-B4F9-493C-82EA-263E90D052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06994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F1CA04-C786-F038-776E-A6E6BDBF39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E2CEB3-8EA6-0C5B-30DD-B69271689F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83AF03-BAB2-8B6C-4E0D-217614AE602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C69779B-0906-DCC1-0478-780F4704D30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62F6A81-288D-837D-6DEC-B0EACD50616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A0A7903-0A6D-7347-C9AA-3BED10DD91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EB10A2-3592-400F-A153-24A818005E13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60EA6F6-D203-B907-C956-57A5B4E798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9D966C8-54D3-2E2B-9CE6-054EE08912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6216C2-B4F9-493C-82EA-263E90D052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57625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7F595B-77B0-BA30-4B4B-F8E90B1B35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DD2BB1F-9990-5368-662E-BE4263870E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EB10A2-3592-400F-A153-24A818005E13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F022F03-16AB-0E6D-FB26-4B9FB94E70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856D932-8916-C824-D6A1-65D6423DDD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6216C2-B4F9-493C-82EA-263E90D052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86335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7F61858-F700-C63E-46D7-0C465F7E98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EB10A2-3592-400F-A153-24A818005E13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51E7157-9A8D-A2EE-95C2-A65B59BEB8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3E685D7-03DE-A1DC-B965-A8F65A7D91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6216C2-B4F9-493C-82EA-263E90D052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31125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CB3A3D-CFBB-F644-5397-F31190FDE3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29A710-A00B-DB71-B361-EC0D701512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54A10A8-BCEE-CBE3-1F18-D3C7DEF626E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A25EA6F-3A6C-D19F-63EB-7E8F2F694D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EB10A2-3592-400F-A153-24A818005E13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5367186-1AD7-68EC-659E-CAE3744A6A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AB865A4-0A9A-865B-32C9-86527B955D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6216C2-B4F9-493C-82EA-263E90D052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42367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5FC664-3CA0-E7FA-9006-AC53E6E5EF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6EC3D6F-0ED9-F669-70B4-75A40CD89D1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31D8F17-EA93-0AD5-FD4C-B2369DF191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AA059C0-1455-7196-D678-02E9A5A41F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EB10A2-3592-400F-A153-24A818005E13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D75A474-CB62-48A1-CF77-E35D894DFF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EBFD8E1-E50D-73E8-FF93-5EA5697674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6216C2-B4F9-493C-82EA-263E90D052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68094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2B5AC4-53F6-2897-0852-03656AF950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01BAB6F-E95A-118E-28C8-2A96A5117D9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6B8C39-5F3E-1705-871B-FF194D1CC0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EB10A2-3592-400F-A153-24A818005E13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2EA283-CF15-90F2-6580-CFD86895B3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6E5116-E697-41A8-FC7B-75DECB5885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6216C2-B4F9-493C-82EA-263E90D052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70873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514E61B-FD89-FB9D-DC30-063CF60CDF7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E408BD9-ACB0-7F02-E87A-9F8C1F97434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A4A0B6-C1E0-DB9C-7206-725A9B81D5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EB10A2-3592-400F-A153-24A818005E13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5214A5-9EE7-15A2-6F8A-0E4AF394FB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8A9AC4-9003-FE0F-0966-26888A5F3D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6216C2-B4F9-493C-82EA-263E90D052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12559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2C0AD93-53ED-1F55-B504-8E2D39530D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3EABDA-14FB-EF0C-9E7A-19EC7F9951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0DD458-6C2C-E3A3-C6BE-C806086D73B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8EB10A2-3592-400F-A153-24A818005E13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BD72D9-269A-96D2-9704-E5F9A2BF386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06B0DC-31A1-17DA-CF86-7ED9E89502E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86216C2-B4F9-493C-82EA-263E90D052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68869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5C65FB-561E-9D73-1C3A-1EF6AC2DAAE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CSE 241 OOP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27D045C-061E-9E15-683A-AA17FD1AB51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Fall 2025</a:t>
            </a:r>
          </a:p>
          <a:p>
            <a:r>
              <a:rPr lang="en-US" dirty="0"/>
              <a:t>Quiz #</a:t>
            </a:r>
            <a:r>
              <a:rPr lang="tr-TR" dirty="0"/>
              <a:t>5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122034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C29E19DF-C479-8A49-FF43-AFBD6B00BF5E}"/>
              </a:ext>
            </a:extLst>
          </p:cNvPr>
          <p:cNvSpPr txBox="1"/>
          <p:nvPr/>
        </p:nvSpPr>
        <p:spPr>
          <a:xfrm>
            <a:off x="7076661" y="2029923"/>
            <a:ext cx="4948512" cy="2462213"/>
          </a:xfrm>
          <a:custGeom>
            <a:avLst/>
            <a:gdLst>
              <a:gd name="connsiteX0" fmla="*/ 0 w 4948512"/>
              <a:gd name="connsiteY0" fmla="*/ 0 h 2462213"/>
              <a:gd name="connsiteX1" fmla="*/ 500350 w 4948512"/>
              <a:gd name="connsiteY1" fmla="*/ 0 h 2462213"/>
              <a:gd name="connsiteX2" fmla="*/ 901729 w 4948512"/>
              <a:gd name="connsiteY2" fmla="*/ 0 h 2462213"/>
              <a:gd name="connsiteX3" fmla="*/ 1550534 w 4948512"/>
              <a:gd name="connsiteY3" fmla="*/ 0 h 2462213"/>
              <a:gd name="connsiteX4" fmla="*/ 2050883 w 4948512"/>
              <a:gd name="connsiteY4" fmla="*/ 0 h 2462213"/>
              <a:gd name="connsiteX5" fmla="*/ 2551233 w 4948512"/>
              <a:gd name="connsiteY5" fmla="*/ 0 h 2462213"/>
              <a:gd name="connsiteX6" fmla="*/ 3200038 w 4948512"/>
              <a:gd name="connsiteY6" fmla="*/ 0 h 2462213"/>
              <a:gd name="connsiteX7" fmla="*/ 3650902 w 4948512"/>
              <a:gd name="connsiteY7" fmla="*/ 0 h 2462213"/>
              <a:gd name="connsiteX8" fmla="*/ 4299707 w 4948512"/>
              <a:gd name="connsiteY8" fmla="*/ 0 h 2462213"/>
              <a:gd name="connsiteX9" fmla="*/ 4948512 w 4948512"/>
              <a:gd name="connsiteY9" fmla="*/ 0 h 2462213"/>
              <a:gd name="connsiteX10" fmla="*/ 4948512 w 4948512"/>
              <a:gd name="connsiteY10" fmla="*/ 492443 h 2462213"/>
              <a:gd name="connsiteX11" fmla="*/ 4948512 w 4948512"/>
              <a:gd name="connsiteY11" fmla="*/ 984885 h 2462213"/>
              <a:gd name="connsiteX12" fmla="*/ 4948512 w 4948512"/>
              <a:gd name="connsiteY12" fmla="*/ 1501950 h 2462213"/>
              <a:gd name="connsiteX13" fmla="*/ 4948512 w 4948512"/>
              <a:gd name="connsiteY13" fmla="*/ 1920526 h 2462213"/>
              <a:gd name="connsiteX14" fmla="*/ 4948512 w 4948512"/>
              <a:gd name="connsiteY14" fmla="*/ 2462213 h 2462213"/>
              <a:gd name="connsiteX15" fmla="*/ 4398677 w 4948512"/>
              <a:gd name="connsiteY15" fmla="*/ 2462213 h 2462213"/>
              <a:gd name="connsiteX16" fmla="*/ 3848843 w 4948512"/>
              <a:gd name="connsiteY16" fmla="*/ 2462213 h 2462213"/>
              <a:gd name="connsiteX17" fmla="*/ 3200038 w 4948512"/>
              <a:gd name="connsiteY17" fmla="*/ 2462213 h 2462213"/>
              <a:gd name="connsiteX18" fmla="*/ 2650203 w 4948512"/>
              <a:gd name="connsiteY18" fmla="*/ 2462213 h 2462213"/>
              <a:gd name="connsiteX19" fmla="*/ 2248824 w 4948512"/>
              <a:gd name="connsiteY19" fmla="*/ 2462213 h 2462213"/>
              <a:gd name="connsiteX20" fmla="*/ 1797959 w 4948512"/>
              <a:gd name="connsiteY20" fmla="*/ 2462213 h 2462213"/>
              <a:gd name="connsiteX21" fmla="*/ 1149154 w 4948512"/>
              <a:gd name="connsiteY21" fmla="*/ 2462213 h 2462213"/>
              <a:gd name="connsiteX22" fmla="*/ 599320 w 4948512"/>
              <a:gd name="connsiteY22" fmla="*/ 2462213 h 2462213"/>
              <a:gd name="connsiteX23" fmla="*/ 0 w 4948512"/>
              <a:gd name="connsiteY23" fmla="*/ 2462213 h 2462213"/>
              <a:gd name="connsiteX24" fmla="*/ 0 w 4948512"/>
              <a:gd name="connsiteY24" fmla="*/ 1969770 h 2462213"/>
              <a:gd name="connsiteX25" fmla="*/ 0 w 4948512"/>
              <a:gd name="connsiteY25" fmla="*/ 1551194 h 2462213"/>
              <a:gd name="connsiteX26" fmla="*/ 0 w 4948512"/>
              <a:gd name="connsiteY26" fmla="*/ 1132618 h 2462213"/>
              <a:gd name="connsiteX27" fmla="*/ 0 w 4948512"/>
              <a:gd name="connsiteY27" fmla="*/ 615553 h 2462213"/>
              <a:gd name="connsiteX28" fmla="*/ 0 w 4948512"/>
              <a:gd name="connsiteY28" fmla="*/ 0 h 24622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4948512" h="2462213" extrusionOk="0">
                <a:moveTo>
                  <a:pt x="0" y="0"/>
                </a:moveTo>
                <a:cubicBezTo>
                  <a:pt x="167643" y="-25315"/>
                  <a:pt x="303401" y="48035"/>
                  <a:pt x="500350" y="0"/>
                </a:cubicBezTo>
                <a:cubicBezTo>
                  <a:pt x="697299" y="-48035"/>
                  <a:pt x="821442" y="813"/>
                  <a:pt x="901729" y="0"/>
                </a:cubicBezTo>
                <a:cubicBezTo>
                  <a:pt x="982016" y="-813"/>
                  <a:pt x="1272912" y="23378"/>
                  <a:pt x="1550534" y="0"/>
                </a:cubicBezTo>
                <a:cubicBezTo>
                  <a:pt x="1828157" y="-23378"/>
                  <a:pt x="1872795" y="2358"/>
                  <a:pt x="2050883" y="0"/>
                </a:cubicBezTo>
                <a:cubicBezTo>
                  <a:pt x="2228971" y="-2358"/>
                  <a:pt x="2357354" y="23155"/>
                  <a:pt x="2551233" y="0"/>
                </a:cubicBezTo>
                <a:cubicBezTo>
                  <a:pt x="2745112" y="-23155"/>
                  <a:pt x="3041441" y="69174"/>
                  <a:pt x="3200038" y="0"/>
                </a:cubicBezTo>
                <a:cubicBezTo>
                  <a:pt x="3358635" y="-69174"/>
                  <a:pt x="3495741" y="53422"/>
                  <a:pt x="3650902" y="0"/>
                </a:cubicBezTo>
                <a:cubicBezTo>
                  <a:pt x="3806063" y="-53422"/>
                  <a:pt x="4161431" y="62776"/>
                  <a:pt x="4299707" y="0"/>
                </a:cubicBezTo>
                <a:cubicBezTo>
                  <a:pt x="4437983" y="-62776"/>
                  <a:pt x="4775640" y="62525"/>
                  <a:pt x="4948512" y="0"/>
                </a:cubicBezTo>
                <a:cubicBezTo>
                  <a:pt x="4982704" y="165707"/>
                  <a:pt x="4946722" y="320163"/>
                  <a:pt x="4948512" y="492443"/>
                </a:cubicBezTo>
                <a:cubicBezTo>
                  <a:pt x="4950302" y="664723"/>
                  <a:pt x="4948280" y="752494"/>
                  <a:pt x="4948512" y="984885"/>
                </a:cubicBezTo>
                <a:cubicBezTo>
                  <a:pt x="4948744" y="1217276"/>
                  <a:pt x="4947360" y="1301598"/>
                  <a:pt x="4948512" y="1501950"/>
                </a:cubicBezTo>
                <a:cubicBezTo>
                  <a:pt x="4949664" y="1702302"/>
                  <a:pt x="4942523" y="1728468"/>
                  <a:pt x="4948512" y="1920526"/>
                </a:cubicBezTo>
                <a:cubicBezTo>
                  <a:pt x="4954501" y="2112584"/>
                  <a:pt x="4926264" y="2323405"/>
                  <a:pt x="4948512" y="2462213"/>
                </a:cubicBezTo>
                <a:cubicBezTo>
                  <a:pt x="4693995" y="2503158"/>
                  <a:pt x="4615073" y="2412674"/>
                  <a:pt x="4398677" y="2462213"/>
                </a:cubicBezTo>
                <a:cubicBezTo>
                  <a:pt x="4182281" y="2511752"/>
                  <a:pt x="4092503" y="2409473"/>
                  <a:pt x="3848843" y="2462213"/>
                </a:cubicBezTo>
                <a:cubicBezTo>
                  <a:pt x="3605183" y="2514953"/>
                  <a:pt x="3344586" y="2388355"/>
                  <a:pt x="3200038" y="2462213"/>
                </a:cubicBezTo>
                <a:cubicBezTo>
                  <a:pt x="3055491" y="2536071"/>
                  <a:pt x="2807877" y="2455032"/>
                  <a:pt x="2650203" y="2462213"/>
                </a:cubicBezTo>
                <a:cubicBezTo>
                  <a:pt x="2492529" y="2469394"/>
                  <a:pt x="2330775" y="2429005"/>
                  <a:pt x="2248824" y="2462213"/>
                </a:cubicBezTo>
                <a:cubicBezTo>
                  <a:pt x="2166873" y="2495421"/>
                  <a:pt x="1986155" y="2458308"/>
                  <a:pt x="1797959" y="2462213"/>
                </a:cubicBezTo>
                <a:cubicBezTo>
                  <a:pt x="1609763" y="2466118"/>
                  <a:pt x="1458688" y="2460726"/>
                  <a:pt x="1149154" y="2462213"/>
                </a:cubicBezTo>
                <a:cubicBezTo>
                  <a:pt x="839620" y="2463700"/>
                  <a:pt x="845679" y="2436789"/>
                  <a:pt x="599320" y="2462213"/>
                </a:cubicBezTo>
                <a:cubicBezTo>
                  <a:pt x="352961" y="2487637"/>
                  <a:pt x="140835" y="2418284"/>
                  <a:pt x="0" y="2462213"/>
                </a:cubicBezTo>
                <a:cubicBezTo>
                  <a:pt x="-58372" y="2319841"/>
                  <a:pt x="26221" y="2117752"/>
                  <a:pt x="0" y="1969770"/>
                </a:cubicBezTo>
                <a:cubicBezTo>
                  <a:pt x="-26221" y="1821788"/>
                  <a:pt x="35310" y="1726956"/>
                  <a:pt x="0" y="1551194"/>
                </a:cubicBezTo>
                <a:cubicBezTo>
                  <a:pt x="-35310" y="1375432"/>
                  <a:pt x="21153" y="1333429"/>
                  <a:pt x="0" y="1132618"/>
                </a:cubicBezTo>
                <a:cubicBezTo>
                  <a:pt x="-21153" y="931807"/>
                  <a:pt x="7477" y="863778"/>
                  <a:pt x="0" y="615553"/>
                </a:cubicBezTo>
                <a:cubicBezTo>
                  <a:pt x="-7477" y="367329"/>
                  <a:pt x="44328" y="239516"/>
                  <a:pt x="0" y="0"/>
                </a:cubicBezTo>
                <a:close/>
              </a:path>
            </a:pathLst>
          </a:custGeom>
          <a:noFill/>
          <a:ln w="19050"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tr-TR" sz="2000" b="1" kern="150" dirty="0">
                <a:latin typeface="Times New Roman" panose="02020603050405020304" pitchFamily="18" charset="0"/>
                <a:ea typeface="Times New Roman" panose="02020603050405020304" pitchFamily="18" charset="0"/>
              </a:rPr>
              <a:t>Study the driver code given on the right. 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000" b="1" kern="150" dirty="0">
                <a:latin typeface="Times New Roman" panose="02020603050405020304" pitchFamily="18" charset="0"/>
                <a:ea typeface="Times New Roman" panose="02020603050405020304" pitchFamily="18" charset="0"/>
              </a:rPr>
              <a:t>Part 1: </a:t>
            </a:r>
            <a:r>
              <a:rPr lang="en-US" sz="2000" dirty="0">
                <a:effectLst/>
                <a:latin typeface="Liberation Serif"/>
                <a:ea typeface="DejaVu Sans"/>
                <a:cs typeface="DejaVu Sans"/>
              </a:rPr>
              <a:t>Write the class definition for class Money. Do not implement any functions on this page. </a:t>
            </a:r>
          </a:p>
          <a:p>
            <a:endParaRPr lang="en-US" sz="1400" dirty="0">
              <a:latin typeface="Liberation Serif"/>
              <a:ea typeface="DejaVu Sans"/>
              <a:cs typeface="DejaVu Sans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000" b="1" kern="150" dirty="0">
                <a:latin typeface="Times New Roman" panose="02020603050405020304" pitchFamily="18" charset="0"/>
                <a:ea typeface="Times New Roman" panose="02020603050405020304" pitchFamily="18" charset="0"/>
              </a:rPr>
              <a:t>Part 2: </a:t>
            </a:r>
            <a:r>
              <a:rPr lang="en-US" sz="2000" dirty="0">
                <a:latin typeface="Liberation Serif"/>
                <a:ea typeface="DejaVu Sans"/>
                <a:cs typeface="DejaVu Sans"/>
              </a:rPr>
              <a:t> Implement all the functions of class Money</a:t>
            </a:r>
            <a:r>
              <a:rPr lang="tr-TR" sz="2000" dirty="0">
                <a:latin typeface="Liberation Serif"/>
                <a:ea typeface="DejaVu Sans"/>
                <a:cs typeface="DejaVu Sans"/>
              </a:rPr>
              <a:t>.</a:t>
            </a:r>
            <a:endParaRPr lang="en-US" sz="2000" dirty="0">
              <a:latin typeface="Liberation Serif"/>
              <a:ea typeface="DejaVu Sans"/>
              <a:cs typeface="DejaVu San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DB04146-BAC6-6D73-DD25-D508C4BD5590}"/>
              </a:ext>
            </a:extLst>
          </p:cNvPr>
          <p:cNvSpPr txBox="1"/>
          <p:nvPr/>
        </p:nvSpPr>
        <p:spPr>
          <a:xfrm>
            <a:off x="360230" y="459540"/>
            <a:ext cx="6547465" cy="5755422"/>
          </a:xfrm>
          <a:custGeom>
            <a:avLst/>
            <a:gdLst>
              <a:gd name="connsiteX0" fmla="*/ 0 w 6547465"/>
              <a:gd name="connsiteY0" fmla="*/ 0 h 5755422"/>
              <a:gd name="connsiteX1" fmla="*/ 720221 w 6547465"/>
              <a:gd name="connsiteY1" fmla="*/ 0 h 5755422"/>
              <a:gd name="connsiteX2" fmla="*/ 1178544 w 6547465"/>
              <a:gd name="connsiteY2" fmla="*/ 0 h 5755422"/>
              <a:gd name="connsiteX3" fmla="*/ 1767816 w 6547465"/>
              <a:gd name="connsiteY3" fmla="*/ 0 h 5755422"/>
              <a:gd name="connsiteX4" fmla="*/ 2226138 w 6547465"/>
              <a:gd name="connsiteY4" fmla="*/ 0 h 5755422"/>
              <a:gd name="connsiteX5" fmla="*/ 3011834 w 6547465"/>
              <a:gd name="connsiteY5" fmla="*/ 0 h 5755422"/>
              <a:gd name="connsiteX6" fmla="*/ 3470156 w 6547465"/>
              <a:gd name="connsiteY6" fmla="*/ 0 h 5755422"/>
              <a:gd name="connsiteX7" fmla="*/ 3993954 w 6547465"/>
              <a:gd name="connsiteY7" fmla="*/ 0 h 5755422"/>
              <a:gd name="connsiteX8" fmla="*/ 4517751 w 6547465"/>
              <a:gd name="connsiteY8" fmla="*/ 0 h 5755422"/>
              <a:gd name="connsiteX9" fmla="*/ 5237972 w 6547465"/>
              <a:gd name="connsiteY9" fmla="*/ 0 h 5755422"/>
              <a:gd name="connsiteX10" fmla="*/ 5892718 w 6547465"/>
              <a:gd name="connsiteY10" fmla="*/ 0 h 5755422"/>
              <a:gd name="connsiteX11" fmla="*/ 6547465 w 6547465"/>
              <a:gd name="connsiteY11" fmla="*/ 0 h 5755422"/>
              <a:gd name="connsiteX12" fmla="*/ 6547465 w 6547465"/>
              <a:gd name="connsiteY12" fmla="*/ 524383 h 5755422"/>
              <a:gd name="connsiteX13" fmla="*/ 6547465 w 6547465"/>
              <a:gd name="connsiteY13" fmla="*/ 1048766 h 5755422"/>
              <a:gd name="connsiteX14" fmla="*/ 6547465 w 6547465"/>
              <a:gd name="connsiteY14" fmla="*/ 1515594 h 5755422"/>
              <a:gd name="connsiteX15" fmla="*/ 6547465 w 6547465"/>
              <a:gd name="connsiteY15" fmla="*/ 2097532 h 5755422"/>
              <a:gd name="connsiteX16" fmla="*/ 6547465 w 6547465"/>
              <a:gd name="connsiteY16" fmla="*/ 2679469 h 5755422"/>
              <a:gd name="connsiteX17" fmla="*/ 6547465 w 6547465"/>
              <a:gd name="connsiteY17" fmla="*/ 3203852 h 5755422"/>
              <a:gd name="connsiteX18" fmla="*/ 6547465 w 6547465"/>
              <a:gd name="connsiteY18" fmla="*/ 3958451 h 5755422"/>
              <a:gd name="connsiteX19" fmla="*/ 6547465 w 6547465"/>
              <a:gd name="connsiteY19" fmla="*/ 4597943 h 5755422"/>
              <a:gd name="connsiteX20" fmla="*/ 6547465 w 6547465"/>
              <a:gd name="connsiteY20" fmla="*/ 5755422 h 5755422"/>
              <a:gd name="connsiteX21" fmla="*/ 6089142 w 6547465"/>
              <a:gd name="connsiteY21" fmla="*/ 5755422 h 5755422"/>
              <a:gd name="connsiteX22" fmla="*/ 5630820 w 6547465"/>
              <a:gd name="connsiteY22" fmla="*/ 5755422 h 5755422"/>
              <a:gd name="connsiteX23" fmla="*/ 4910599 w 6547465"/>
              <a:gd name="connsiteY23" fmla="*/ 5755422 h 5755422"/>
              <a:gd name="connsiteX24" fmla="*/ 4190378 w 6547465"/>
              <a:gd name="connsiteY24" fmla="*/ 5755422 h 5755422"/>
              <a:gd name="connsiteX25" fmla="*/ 3601106 w 6547465"/>
              <a:gd name="connsiteY25" fmla="*/ 5755422 h 5755422"/>
              <a:gd name="connsiteX26" fmla="*/ 3142783 w 6547465"/>
              <a:gd name="connsiteY26" fmla="*/ 5755422 h 5755422"/>
              <a:gd name="connsiteX27" fmla="*/ 2684461 w 6547465"/>
              <a:gd name="connsiteY27" fmla="*/ 5755422 h 5755422"/>
              <a:gd name="connsiteX28" fmla="*/ 1898765 w 6547465"/>
              <a:gd name="connsiteY28" fmla="*/ 5755422 h 5755422"/>
              <a:gd name="connsiteX29" fmla="*/ 1113069 w 6547465"/>
              <a:gd name="connsiteY29" fmla="*/ 5755422 h 5755422"/>
              <a:gd name="connsiteX30" fmla="*/ 0 w 6547465"/>
              <a:gd name="connsiteY30" fmla="*/ 5755422 h 5755422"/>
              <a:gd name="connsiteX31" fmla="*/ 0 w 6547465"/>
              <a:gd name="connsiteY31" fmla="*/ 5173485 h 5755422"/>
              <a:gd name="connsiteX32" fmla="*/ 0 w 6547465"/>
              <a:gd name="connsiteY32" fmla="*/ 4533994 h 5755422"/>
              <a:gd name="connsiteX33" fmla="*/ 0 w 6547465"/>
              <a:gd name="connsiteY33" fmla="*/ 3894502 h 5755422"/>
              <a:gd name="connsiteX34" fmla="*/ 0 w 6547465"/>
              <a:gd name="connsiteY34" fmla="*/ 3370119 h 5755422"/>
              <a:gd name="connsiteX35" fmla="*/ 0 w 6547465"/>
              <a:gd name="connsiteY35" fmla="*/ 2673074 h 5755422"/>
              <a:gd name="connsiteX36" fmla="*/ 0 w 6547465"/>
              <a:gd name="connsiteY36" fmla="*/ 2033582 h 5755422"/>
              <a:gd name="connsiteX37" fmla="*/ 0 w 6547465"/>
              <a:gd name="connsiteY37" fmla="*/ 1394091 h 5755422"/>
              <a:gd name="connsiteX38" fmla="*/ 0 w 6547465"/>
              <a:gd name="connsiteY38" fmla="*/ 812154 h 5755422"/>
              <a:gd name="connsiteX39" fmla="*/ 0 w 6547465"/>
              <a:gd name="connsiteY39" fmla="*/ 0 h 57554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</a:cxnLst>
            <a:rect l="l" t="t" r="r" b="b"/>
            <a:pathLst>
              <a:path w="6547465" h="5755422" extrusionOk="0">
                <a:moveTo>
                  <a:pt x="0" y="0"/>
                </a:moveTo>
                <a:cubicBezTo>
                  <a:pt x="354054" y="-15841"/>
                  <a:pt x="457146" y="-11578"/>
                  <a:pt x="720221" y="0"/>
                </a:cubicBezTo>
                <a:cubicBezTo>
                  <a:pt x="983296" y="11578"/>
                  <a:pt x="974701" y="-13105"/>
                  <a:pt x="1178544" y="0"/>
                </a:cubicBezTo>
                <a:cubicBezTo>
                  <a:pt x="1382387" y="13105"/>
                  <a:pt x="1561153" y="2927"/>
                  <a:pt x="1767816" y="0"/>
                </a:cubicBezTo>
                <a:cubicBezTo>
                  <a:pt x="1974479" y="-2927"/>
                  <a:pt x="2106095" y="12854"/>
                  <a:pt x="2226138" y="0"/>
                </a:cubicBezTo>
                <a:cubicBezTo>
                  <a:pt x="2346181" y="-12854"/>
                  <a:pt x="2663119" y="-8573"/>
                  <a:pt x="3011834" y="0"/>
                </a:cubicBezTo>
                <a:cubicBezTo>
                  <a:pt x="3360549" y="8573"/>
                  <a:pt x="3306508" y="14701"/>
                  <a:pt x="3470156" y="0"/>
                </a:cubicBezTo>
                <a:cubicBezTo>
                  <a:pt x="3633804" y="-14701"/>
                  <a:pt x="3767897" y="14536"/>
                  <a:pt x="3993954" y="0"/>
                </a:cubicBezTo>
                <a:cubicBezTo>
                  <a:pt x="4220011" y="-14536"/>
                  <a:pt x="4356715" y="4979"/>
                  <a:pt x="4517751" y="0"/>
                </a:cubicBezTo>
                <a:cubicBezTo>
                  <a:pt x="4678787" y="-4979"/>
                  <a:pt x="4885900" y="30860"/>
                  <a:pt x="5237972" y="0"/>
                </a:cubicBezTo>
                <a:cubicBezTo>
                  <a:pt x="5590044" y="-30860"/>
                  <a:pt x="5742443" y="-20855"/>
                  <a:pt x="5892718" y="0"/>
                </a:cubicBezTo>
                <a:cubicBezTo>
                  <a:pt x="6042993" y="20855"/>
                  <a:pt x="6359459" y="-9222"/>
                  <a:pt x="6547465" y="0"/>
                </a:cubicBezTo>
                <a:cubicBezTo>
                  <a:pt x="6551627" y="216094"/>
                  <a:pt x="6545464" y="384904"/>
                  <a:pt x="6547465" y="524383"/>
                </a:cubicBezTo>
                <a:cubicBezTo>
                  <a:pt x="6549466" y="663862"/>
                  <a:pt x="6529909" y="856413"/>
                  <a:pt x="6547465" y="1048766"/>
                </a:cubicBezTo>
                <a:cubicBezTo>
                  <a:pt x="6565021" y="1241119"/>
                  <a:pt x="6538401" y="1404893"/>
                  <a:pt x="6547465" y="1515594"/>
                </a:cubicBezTo>
                <a:cubicBezTo>
                  <a:pt x="6556529" y="1626295"/>
                  <a:pt x="6525778" y="1947294"/>
                  <a:pt x="6547465" y="2097532"/>
                </a:cubicBezTo>
                <a:cubicBezTo>
                  <a:pt x="6569152" y="2247770"/>
                  <a:pt x="6559796" y="2518468"/>
                  <a:pt x="6547465" y="2679469"/>
                </a:cubicBezTo>
                <a:cubicBezTo>
                  <a:pt x="6535134" y="2840470"/>
                  <a:pt x="6565718" y="3090074"/>
                  <a:pt x="6547465" y="3203852"/>
                </a:cubicBezTo>
                <a:cubicBezTo>
                  <a:pt x="6529212" y="3317630"/>
                  <a:pt x="6552094" y="3606765"/>
                  <a:pt x="6547465" y="3958451"/>
                </a:cubicBezTo>
                <a:cubicBezTo>
                  <a:pt x="6542836" y="4310137"/>
                  <a:pt x="6552842" y="4314236"/>
                  <a:pt x="6547465" y="4597943"/>
                </a:cubicBezTo>
                <a:cubicBezTo>
                  <a:pt x="6542088" y="4881650"/>
                  <a:pt x="6553154" y="5238781"/>
                  <a:pt x="6547465" y="5755422"/>
                </a:cubicBezTo>
                <a:cubicBezTo>
                  <a:pt x="6404359" y="5738964"/>
                  <a:pt x="6232991" y="5738954"/>
                  <a:pt x="6089142" y="5755422"/>
                </a:cubicBezTo>
                <a:cubicBezTo>
                  <a:pt x="5945293" y="5771890"/>
                  <a:pt x="5749479" y="5777951"/>
                  <a:pt x="5630820" y="5755422"/>
                </a:cubicBezTo>
                <a:cubicBezTo>
                  <a:pt x="5512161" y="5732893"/>
                  <a:pt x="5063406" y="5767470"/>
                  <a:pt x="4910599" y="5755422"/>
                </a:cubicBezTo>
                <a:cubicBezTo>
                  <a:pt x="4757792" y="5743374"/>
                  <a:pt x="4402344" y="5744529"/>
                  <a:pt x="4190378" y="5755422"/>
                </a:cubicBezTo>
                <a:cubicBezTo>
                  <a:pt x="3978412" y="5766315"/>
                  <a:pt x="3842125" y="5768879"/>
                  <a:pt x="3601106" y="5755422"/>
                </a:cubicBezTo>
                <a:cubicBezTo>
                  <a:pt x="3360087" y="5741965"/>
                  <a:pt x="3304578" y="5768371"/>
                  <a:pt x="3142783" y="5755422"/>
                </a:cubicBezTo>
                <a:cubicBezTo>
                  <a:pt x="2980988" y="5742473"/>
                  <a:pt x="2880263" y="5739340"/>
                  <a:pt x="2684461" y="5755422"/>
                </a:cubicBezTo>
                <a:cubicBezTo>
                  <a:pt x="2488659" y="5771504"/>
                  <a:pt x="2274331" y="5771605"/>
                  <a:pt x="1898765" y="5755422"/>
                </a:cubicBezTo>
                <a:cubicBezTo>
                  <a:pt x="1523199" y="5739239"/>
                  <a:pt x="1444482" y="5744369"/>
                  <a:pt x="1113069" y="5755422"/>
                </a:cubicBezTo>
                <a:cubicBezTo>
                  <a:pt x="781656" y="5766475"/>
                  <a:pt x="387370" y="5751637"/>
                  <a:pt x="0" y="5755422"/>
                </a:cubicBezTo>
                <a:cubicBezTo>
                  <a:pt x="431" y="5619858"/>
                  <a:pt x="4048" y="5412376"/>
                  <a:pt x="0" y="5173485"/>
                </a:cubicBezTo>
                <a:cubicBezTo>
                  <a:pt x="-4048" y="4934594"/>
                  <a:pt x="-30911" y="4842323"/>
                  <a:pt x="0" y="4533994"/>
                </a:cubicBezTo>
                <a:cubicBezTo>
                  <a:pt x="30911" y="4225665"/>
                  <a:pt x="-5262" y="4079064"/>
                  <a:pt x="0" y="3894502"/>
                </a:cubicBezTo>
                <a:cubicBezTo>
                  <a:pt x="5262" y="3709940"/>
                  <a:pt x="9694" y="3616528"/>
                  <a:pt x="0" y="3370119"/>
                </a:cubicBezTo>
                <a:cubicBezTo>
                  <a:pt x="-9694" y="3123710"/>
                  <a:pt x="3359" y="2998546"/>
                  <a:pt x="0" y="2673074"/>
                </a:cubicBezTo>
                <a:cubicBezTo>
                  <a:pt x="-3359" y="2347602"/>
                  <a:pt x="12383" y="2213606"/>
                  <a:pt x="0" y="2033582"/>
                </a:cubicBezTo>
                <a:cubicBezTo>
                  <a:pt x="-12383" y="1853558"/>
                  <a:pt x="6500" y="1602700"/>
                  <a:pt x="0" y="1394091"/>
                </a:cubicBezTo>
                <a:cubicBezTo>
                  <a:pt x="-6500" y="1185482"/>
                  <a:pt x="14240" y="1050666"/>
                  <a:pt x="0" y="812154"/>
                </a:cubicBezTo>
                <a:cubicBezTo>
                  <a:pt x="-14240" y="573642"/>
                  <a:pt x="26036" y="388480"/>
                  <a:pt x="0" y="0"/>
                </a:cubicBezTo>
                <a:close/>
              </a:path>
            </a:pathLst>
          </a:custGeom>
          <a:noFill/>
          <a:ln>
            <a:solidFill>
              <a:schemeClr val="accent1"/>
            </a:solidFill>
            <a:extLst>
              <a:ext uri="{C807C97D-BFC1-408E-A445-0C87EB9F89A2}">
                <ask:lineSketchStyleProps xmlns:ask="http://schemas.microsoft.com/office/drawing/2018/sketchyshapes" sd="1066159514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txBody>
          <a:bodyPr wrap="square">
            <a:spAutoFit/>
          </a:bodyPr>
          <a:lstStyle/>
          <a:p>
            <a:pPr>
              <a:buNone/>
            </a:pPr>
            <a:endParaRPr lang="en-US" sz="1400" b="0" dirty="0"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effectLst/>
                <a:latin typeface="Consolas" panose="020B0609020204030204" pitchFamily="49" charset="0"/>
              </a:rPr>
              <a:t>#include &lt;iostream&gt;</a:t>
            </a:r>
          </a:p>
          <a:p>
            <a:pPr>
              <a:buNone/>
            </a:pPr>
            <a:r>
              <a:rPr lang="en-US" b="0" dirty="0">
                <a:effectLst/>
                <a:latin typeface="Consolas" panose="020B0609020204030204" pitchFamily="49" charset="0"/>
              </a:rPr>
              <a:t>#include "</a:t>
            </a:r>
            <a:r>
              <a:rPr lang="en-US" b="0" dirty="0" err="1">
                <a:effectLst/>
                <a:latin typeface="Consolas" panose="020B0609020204030204" pitchFamily="49" charset="0"/>
              </a:rPr>
              <a:t>money.h</a:t>
            </a:r>
            <a:r>
              <a:rPr lang="en-US" b="0" dirty="0">
                <a:effectLst/>
                <a:latin typeface="Consolas" panose="020B0609020204030204" pitchFamily="49" charset="0"/>
              </a:rPr>
              <a:t>"</a:t>
            </a:r>
          </a:p>
          <a:p>
            <a:pPr>
              <a:buNone/>
            </a:pPr>
            <a:r>
              <a:rPr lang="en-US" b="0" dirty="0">
                <a:effectLst/>
                <a:latin typeface="Consolas" panose="020B0609020204030204" pitchFamily="49" charset="0"/>
              </a:rPr>
              <a:t>using namespace std;</a:t>
            </a:r>
          </a:p>
          <a:p>
            <a:pPr>
              <a:buNone/>
            </a:pPr>
            <a:endParaRPr lang="en-US" sz="1200" b="0" dirty="0"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effectLst/>
                <a:latin typeface="Consolas" panose="020B0609020204030204" pitchFamily="49" charset="0"/>
              </a:rPr>
              <a:t>int main() {</a:t>
            </a:r>
          </a:p>
          <a:p>
            <a:pPr>
              <a:buNone/>
            </a:pPr>
            <a:r>
              <a:rPr lang="en-US" b="0" dirty="0">
                <a:effectLst/>
                <a:latin typeface="Consolas" panose="020B0609020204030204" pitchFamily="49" charset="0"/>
              </a:rPr>
              <a:t>  </a:t>
            </a:r>
            <a:r>
              <a:rPr lang="en-US" b="0" dirty="0">
                <a:solidFill>
                  <a:schemeClr val="tx2">
                    <a:lumMod val="50000"/>
                    <a:lumOff val="50000"/>
                  </a:schemeClr>
                </a:solidFill>
                <a:effectLst/>
                <a:latin typeface="Consolas" panose="020B0609020204030204" pitchFamily="49" charset="0"/>
              </a:rPr>
              <a:t>Money</a:t>
            </a:r>
            <a:r>
              <a:rPr lang="en-US" b="0" dirty="0">
                <a:effectLst/>
                <a:latin typeface="Consolas" panose="020B0609020204030204" pitchFamily="49" charset="0"/>
              </a:rPr>
              <a:t> m1; </a:t>
            </a:r>
            <a:r>
              <a:rPr lang="en-US" b="0" dirty="0">
                <a:solidFill>
                  <a:srgbClr val="00B050"/>
                </a:solidFill>
                <a:effectLst/>
                <a:latin typeface="Consolas" panose="020B0609020204030204" pitchFamily="49" charset="0"/>
              </a:rPr>
              <a:t>// 0$ and 0cents</a:t>
            </a:r>
          </a:p>
          <a:p>
            <a:pPr>
              <a:buNone/>
            </a:pPr>
            <a:r>
              <a:rPr lang="en-US" dirty="0">
                <a:latin typeface="Consolas" panose="020B0609020204030204" pitchFamily="49" charset="0"/>
              </a:rPr>
              <a:t>  </a:t>
            </a:r>
            <a:r>
              <a:rPr lang="en-US" dirty="0">
                <a:solidFill>
                  <a:schemeClr val="tx2">
                    <a:lumMod val="50000"/>
                    <a:lumOff val="50000"/>
                  </a:schemeClr>
                </a:solidFill>
                <a:latin typeface="Consolas" panose="020B0609020204030204" pitchFamily="49" charset="0"/>
              </a:rPr>
              <a:t>Money</a:t>
            </a:r>
            <a:r>
              <a:rPr lang="en-US" dirty="0">
                <a:latin typeface="Consolas" panose="020B0609020204030204" pitchFamily="49" charset="0"/>
              </a:rPr>
              <a:t> m2(2,50); </a:t>
            </a:r>
            <a:r>
              <a:rPr lang="en-US" dirty="0">
                <a:solidFill>
                  <a:srgbClr val="00B050"/>
                </a:solidFill>
                <a:latin typeface="Consolas" panose="020B0609020204030204" pitchFamily="49" charset="0"/>
              </a:rPr>
              <a:t>// 2$ and 50cents.</a:t>
            </a:r>
          </a:p>
          <a:p>
            <a:r>
              <a:rPr lang="en-US" dirty="0">
                <a:latin typeface="Consolas" panose="020B0609020204030204" pitchFamily="49" charset="0"/>
              </a:rPr>
              <a:t>  const </a:t>
            </a:r>
            <a:r>
              <a:rPr lang="en-US" dirty="0">
                <a:solidFill>
                  <a:schemeClr val="tx2">
                    <a:lumMod val="50000"/>
                    <a:lumOff val="50000"/>
                  </a:schemeClr>
                </a:solidFill>
                <a:latin typeface="Consolas" panose="020B0609020204030204" pitchFamily="49" charset="0"/>
              </a:rPr>
              <a:t>Money </a:t>
            </a:r>
            <a:r>
              <a:rPr lang="en-US" dirty="0">
                <a:latin typeface="Consolas" panose="020B0609020204030204" pitchFamily="49" charset="0"/>
              </a:rPr>
              <a:t>m3(5,60); </a:t>
            </a:r>
            <a:r>
              <a:rPr lang="en-US" dirty="0">
                <a:solidFill>
                  <a:srgbClr val="00B050"/>
                </a:solidFill>
                <a:latin typeface="Consolas" panose="020B0609020204030204" pitchFamily="49" charset="0"/>
              </a:rPr>
              <a:t>// 5$ and 60cents.</a:t>
            </a:r>
          </a:p>
          <a:p>
            <a:pPr>
              <a:buNone/>
            </a:pPr>
            <a:r>
              <a:rPr lang="en-US" dirty="0">
                <a:latin typeface="Consolas" panose="020B0609020204030204" pitchFamily="49" charset="0"/>
              </a:rPr>
              <a:t>  </a:t>
            </a:r>
          </a:p>
          <a:p>
            <a:pPr>
              <a:buNone/>
            </a:pPr>
            <a:r>
              <a:rPr lang="en-US" b="0" dirty="0">
                <a:effectLst/>
                <a:latin typeface="Consolas" panose="020B0609020204030204" pitchFamily="49" charset="0"/>
              </a:rPr>
              <a:t>  </a:t>
            </a:r>
            <a:r>
              <a:rPr lang="en-US" b="0" dirty="0" err="1">
                <a:effectLst/>
                <a:latin typeface="Consolas" panose="020B0609020204030204" pitchFamily="49" charset="0"/>
              </a:rPr>
              <a:t>ofstream</a:t>
            </a:r>
            <a:r>
              <a:rPr lang="en-US" b="0" dirty="0">
                <a:effectLst/>
                <a:latin typeface="Consolas" panose="020B0609020204030204" pitchFamily="49" charset="0"/>
              </a:rPr>
              <a:t> file("output.txt");</a:t>
            </a:r>
          </a:p>
          <a:p>
            <a:pPr>
              <a:buNone/>
            </a:pPr>
            <a:r>
              <a:rPr lang="en-US" dirty="0">
                <a:latin typeface="Consolas" panose="020B0609020204030204" pitchFamily="49" charset="0"/>
              </a:rPr>
              <a:t>  </a:t>
            </a:r>
            <a:r>
              <a:rPr lang="en-US" b="0" dirty="0">
                <a:effectLst/>
                <a:latin typeface="Consolas" panose="020B0609020204030204" pitchFamily="49" charset="0"/>
              </a:rPr>
              <a:t>file &lt;&lt; m1 &lt;&lt; " " &lt;&lt; m2; </a:t>
            </a:r>
            <a:r>
              <a:rPr lang="en-US" dirty="0">
                <a:solidFill>
                  <a:srgbClr val="00B050"/>
                </a:solidFill>
                <a:latin typeface="Consolas" panose="020B0609020204030204" pitchFamily="49" charset="0"/>
              </a:rPr>
              <a:t>// writes “0.0 2.50”</a:t>
            </a:r>
          </a:p>
          <a:p>
            <a:pPr>
              <a:buNone/>
            </a:pPr>
            <a:r>
              <a:rPr lang="en-US" dirty="0">
                <a:solidFill>
                  <a:srgbClr val="00B050"/>
                </a:solidFill>
                <a:latin typeface="Consolas" panose="020B0609020204030204" pitchFamily="49" charset="0"/>
              </a:rPr>
              <a:t>                           // to the file</a:t>
            </a:r>
          </a:p>
          <a:p>
            <a:pPr>
              <a:buNone/>
            </a:pPr>
            <a:endParaRPr lang="en-US" b="0" dirty="0"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effectLst/>
                <a:latin typeface="Consolas" panose="020B0609020204030204" pitchFamily="49" charset="0"/>
              </a:rPr>
              <a:t>  </a:t>
            </a:r>
            <a:r>
              <a:rPr lang="en-US" b="0" dirty="0" err="1">
                <a:effectLst/>
                <a:latin typeface="Consolas" panose="020B0609020204030204" pitchFamily="49" charset="0"/>
              </a:rPr>
              <a:t>cout</a:t>
            </a:r>
            <a:r>
              <a:rPr lang="en-US" b="0" dirty="0">
                <a:effectLst/>
                <a:latin typeface="Consolas" panose="020B0609020204030204" pitchFamily="49" charset="0"/>
              </a:rPr>
              <a:t> &lt;&lt; ++m2; </a:t>
            </a:r>
            <a:r>
              <a:rPr lang="en-US" dirty="0">
                <a:solidFill>
                  <a:srgbClr val="00B050"/>
                </a:solidFill>
                <a:latin typeface="Consolas" panose="020B0609020204030204" pitchFamily="49" charset="0"/>
              </a:rPr>
              <a:t>// writes 3.50 to screen</a:t>
            </a:r>
          </a:p>
          <a:p>
            <a:pPr>
              <a:buNone/>
            </a:pPr>
            <a:r>
              <a:rPr lang="en-US" b="0" dirty="0">
                <a:effectLst/>
                <a:latin typeface="Consolas" panose="020B0609020204030204" pitchFamily="49" charset="0"/>
              </a:rPr>
              <a:t>  </a:t>
            </a:r>
            <a:r>
              <a:rPr lang="en-US" b="0" dirty="0" err="1">
                <a:effectLst/>
                <a:latin typeface="Consolas" panose="020B0609020204030204" pitchFamily="49" charset="0"/>
              </a:rPr>
              <a:t>cout</a:t>
            </a:r>
            <a:r>
              <a:rPr lang="en-US" b="0" dirty="0">
                <a:effectLst/>
                <a:latin typeface="Consolas" panose="020B0609020204030204" pitchFamily="49" charset="0"/>
              </a:rPr>
              <a:t> &lt;&lt; m1++; </a:t>
            </a:r>
            <a:r>
              <a:rPr lang="en-US" dirty="0">
                <a:solidFill>
                  <a:srgbClr val="00B050"/>
                </a:solidFill>
                <a:latin typeface="Consolas" panose="020B0609020204030204" pitchFamily="49" charset="0"/>
              </a:rPr>
              <a:t>// writes 0.0 to screen</a:t>
            </a:r>
          </a:p>
          <a:p>
            <a:pPr>
              <a:buNone/>
            </a:pPr>
            <a:r>
              <a:rPr lang="en-US" b="0" dirty="0">
                <a:effectLst/>
                <a:latin typeface="Consolas" panose="020B0609020204030204" pitchFamily="49" charset="0"/>
              </a:rPr>
              <a:t>  </a:t>
            </a:r>
            <a:r>
              <a:rPr lang="en-US" b="0" dirty="0" err="1">
                <a:effectLst/>
                <a:latin typeface="Consolas" panose="020B0609020204030204" pitchFamily="49" charset="0"/>
              </a:rPr>
              <a:t>cout</a:t>
            </a:r>
            <a:r>
              <a:rPr lang="en-US" b="0" dirty="0">
                <a:effectLst/>
                <a:latin typeface="Consolas" panose="020B0609020204030204" pitchFamily="49" charset="0"/>
              </a:rPr>
              <a:t> &lt;&lt; 1 + 2 + m2 + m3; </a:t>
            </a:r>
            <a:r>
              <a:rPr lang="en-US" dirty="0">
                <a:solidFill>
                  <a:srgbClr val="00B050"/>
                </a:solidFill>
                <a:latin typeface="Consolas" panose="020B0609020204030204" pitchFamily="49" charset="0"/>
              </a:rPr>
              <a:t>// writes 12.10</a:t>
            </a:r>
          </a:p>
          <a:p>
            <a:pPr>
              <a:buNone/>
            </a:pPr>
            <a:r>
              <a:rPr lang="en-US" dirty="0">
                <a:latin typeface="Consolas" panose="020B0609020204030204" pitchFamily="49" charset="0"/>
              </a:rPr>
              <a:t>                          </a:t>
            </a:r>
            <a:r>
              <a:rPr lang="en-US" b="0" dirty="0">
                <a:effectLst/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B050"/>
                </a:solidFill>
                <a:latin typeface="Consolas" panose="020B0609020204030204" pitchFamily="49" charset="0"/>
              </a:rPr>
              <a:t>// to screen</a:t>
            </a:r>
          </a:p>
          <a:p>
            <a:pPr>
              <a:buNone/>
            </a:pPr>
            <a:r>
              <a:rPr lang="en-US" b="0" dirty="0">
                <a:effectLst/>
                <a:latin typeface="Consolas" panose="020B0609020204030204" pitchFamily="49" charset="0"/>
              </a:rPr>
              <a:t>  </a:t>
            </a:r>
            <a:r>
              <a:rPr lang="en-US" b="0" dirty="0" err="1">
                <a:effectLst/>
                <a:latin typeface="Consolas" panose="020B0609020204030204" pitchFamily="49" charset="0"/>
              </a:rPr>
              <a:t>file.close</a:t>
            </a:r>
            <a:r>
              <a:rPr lang="en-US" b="0" dirty="0">
                <a:effectLst/>
                <a:latin typeface="Consolas" panose="020B0609020204030204" pitchFamily="49" charset="0"/>
              </a:rPr>
              <a:t>();</a:t>
            </a:r>
          </a:p>
          <a:p>
            <a:pPr>
              <a:buNone/>
            </a:pPr>
            <a:r>
              <a:rPr lang="en-US" b="0" dirty="0">
                <a:effectLst/>
                <a:latin typeface="Consolas" panose="020B0609020204030204" pitchFamily="49" charset="0"/>
              </a:rPr>
              <a:t>  return 0;</a:t>
            </a:r>
          </a:p>
          <a:p>
            <a:pPr>
              <a:buNone/>
            </a:pPr>
            <a:r>
              <a:rPr lang="en-US" b="0" dirty="0"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7072643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Belge" ma:contentTypeID="0x01010098DA411F14FB3446BFBA932E3193AD5E" ma:contentTypeVersion="0" ma:contentTypeDescription="Yeni belge oluşturun." ma:contentTypeScope="" ma:versionID="f24eb5264a216acb6eaa23edf950d866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eb3976cc54e553a713b593afa41ee617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İçerik Türü"/>
        <xsd:element ref="dc:title" minOccurs="0" maxOccurs="1" ma:index="4" ma:displayName="Başlık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63D5C78C-BA26-46E7-B634-E9498CA75EA9}"/>
</file>

<file path=customXml/itemProps2.xml><?xml version="1.0" encoding="utf-8"?>
<ds:datastoreItem xmlns:ds="http://schemas.openxmlformats.org/officeDocument/2006/customXml" ds:itemID="{FD44DEC4-150A-497D-A8AD-6896B82A4BE1}"/>
</file>

<file path=customXml/itemProps3.xml><?xml version="1.0" encoding="utf-8"?>
<ds:datastoreItem xmlns:ds="http://schemas.openxmlformats.org/officeDocument/2006/customXml" ds:itemID="{CF7990A3-9E75-4B88-BFE8-368306DC2BBC}"/>
</file>

<file path=docProps/app.xml><?xml version="1.0" encoding="utf-8"?>
<Properties xmlns="http://schemas.openxmlformats.org/officeDocument/2006/extended-properties" xmlns:vt="http://schemas.openxmlformats.org/officeDocument/2006/docPropsVTypes">
  <TotalTime>118</TotalTime>
  <Words>177</Words>
  <Application>Microsoft Office PowerPoint</Application>
  <PresentationFormat>Widescreen</PresentationFormat>
  <Paragraphs>28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9" baseType="lpstr">
      <vt:lpstr>Aptos</vt:lpstr>
      <vt:lpstr>Aptos Display</vt:lpstr>
      <vt:lpstr>Arial</vt:lpstr>
      <vt:lpstr>Consolas</vt:lpstr>
      <vt:lpstr>Liberation Serif</vt:lpstr>
      <vt:lpstr>Times New Roman</vt:lpstr>
      <vt:lpstr>Office Theme</vt:lpstr>
      <vt:lpstr>CSE 241 OOP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Yakup Genc</dc:creator>
  <cp:lastModifiedBy>Yakup Genc</cp:lastModifiedBy>
  <cp:revision>56</cp:revision>
  <dcterms:created xsi:type="dcterms:W3CDTF">2025-10-01T11:57:46Z</dcterms:created>
  <dcterms:modified xsi:type="dcterms:W3CDTF">2025-11-03T08:20:11Z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0x01010098DA411F14FB3446BFBA932E3193AD5E</vt:lpwstr>
  </property>
</Properties>
</file>